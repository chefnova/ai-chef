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4" r:id="rId2"/>
    <p:sldId id="265" r:id="rId3"/>
    <p:sldId id="266" r:id="rId4"/>
    <p:sldId id="259" r:id="rId5"/>
    <p:sldId id="260" r:id="rId6"/>
    <p:sldId id="263" r:id="rId7"/>
    <p:sldId id="262" r:id="rId8"/>
    <p:sldId id="261"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 dt="2026-09-17T17:42:33.325"/>
    <p1510:client id="{1EAD9596-A13F-30A5-7D4C-905603E8B142}" v="30" dt="2026-09-17T18:30:50.485"/>
    <p1510:client id="{2BF98241-87F6-4D37-4FB8-72EF8851736F}" v="163" dt="2026-09-17T23:11:16.391"/>
    <p1510:client id="{2F468EE1-6E55-18C5-405B-1540739F455B}" v="89" dt="2026-09-17T20:20:47.535"/>
    <p1510:client id="{4ABC7E52-4067-C3DB-4BB3-F1EC80C30855}" v="57" dt="2026-09-17T13:46:42.823"/>
    <p1510:client id="{53E1C5A7-8C3F-02F8-3492-24AC1F30ACEF}" v="22" dt="2026-09-17T19:32:37.035"/>
    <p1510:client id="{74DD7746-9267-BCEC-7CA3-4EA558ADA0F8}" v="81" dt="2026-09-17T23:42:42.389"/>
    <p1510:client id="{91A742AF-A4E4-4459-A26F-B22CD3ED83B7}" v="1" dt="2026-09-17T20:16:28.286"/>
    <p1510:client id="{CEFE9580-E474-0646-053C-33E0044C6A95}" v="110" dt="2026-09-17T19:51:11.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6865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project is ChefNova: Your AI chef for smarter meals tailored to your pantry, preferences, and diet. Users upload grocery receipts to build an inventory of ingredients and quantities. Whenever they ask for a recipe, they first review and update that inventory. ChefNova then recommends meals using the confirmed groceries and their preferences. We are initially designing for college students and beginner home cooks. Our team covers problem and users, literature and competitive analysis, technical approach and validation, and project coordination.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Imagine a student who bought rice, chickpeas, and spinach earlier in the week and now wants a quick vegetarian dinner. The receipt records the purchase, but some spinach may already have been used. Suggestions based only on that receipt can therefore be impractical. ChefNova extracts grocery items and quantities, saves reviewed entries, and shows an editable inventory before each recipe request proceeds. Users correct unclear receipt entries and update what remains. GenAI helps interpret abbreviated grocery descriptions and flexible meal requests, while the database handles quantity storage. Our hypothesis is that this combination reduces manual entry and meal-selection effort. We will test that hypothesis rather than claim proven savings in cost or food waste.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initial users are college students and beginner home cooks, including people with dietary preferences. These personas are assumptions to validate. First, users upload a grocery receipt and review the extracted names, quantities, and units before saving. Second, whenever they request a recipe, they confirm or edit the inventory table to reflect groceries consumed or discarded. Only then does ChefNova recommend recipes using the confirmed inventory. Success means accurate extraction, low correction effort, and useful recipes that preserve dietary constraints and identify missing quantities. We will test these outcomes in Checkpoint 2. Receipt package counts do not establish package weights, and recommending a recipe does not automatically deduct ingredients. Next, our literature review connects these needs to prior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looked at the current landscape across three types of tools.</a:t>
            </a:r>
          </a:p>
          <a:p>
            <a:r>
              <a:rPr lang="en-US"/>
              <a:t>First, </a:t>
            </a:r>
            <a:r>
              <a:rPr lang="en-US" b="1"/>
              <a:t>recipe discovery platforms</a:t>
            </a:r>
            <a:r>
              <a:rPr lang="en-US"/>
              <a:t> are good at finding meals based on ingredients or preferences, but they generally don't know what the user actually still has available.</a:t>
            </a:r>
          </a:p>
          <a:p>
            <a:r>
              <a:rPr lang="en-US"/>
              <a:t>Second, </a:t>
            </a:r>
            <a:r>
              <a:rPr lang="en-US" b="1"/>
              <a:t>conversational AI</a:t>
            </a:r>
            <a:r>
              <a:rPr lang="en-US"/>
              <a:t> can understand natural-language requests and revise recipes interactively, but without a persistent inventory, the recommendations aren't necessarily grounded in what the user has.</a:t>
            </a:r>
          </a:p>
          <a:p>
            <a:r>
              <a:rPr lang="en-US"/>
              <a:t>Third, </a:t>
            </a:r>
            <a:r>
              <a:rPr lang="en-US" b="1"/>
              <a:t>grocery planners</a:t>
            </a:r>
            <a:r>
              <a:rPr lang="en-US"/>
              <a:t> help users plan what to purchase, but our focus is almost the opposite problem: given what I already have, what can I actually make today?</a:t>
            </a:r>
          </a:p>
          <a:p>
            <a:r>
              <a:rPr lang="en-US"/>
              <a:t>So our design focus is on connecting these pieces. First, we want a </a:t>
            </a:r>
            <a:r>
              <a:rPr lang="en-US" b="1"/>
              <a:t>persistent, user-confirmed inventory</a:t>
            </a:r>
            <a:r>
              <a:rPr lang="en-US"/>
              <a:t>, rather than assuming that something purchased is still available.</a:t>
            </a:r>
          </a:p>
          <a:p>
            <a:r>
              <a:rPr lang="en-US"/>
              <a:t>Second, when the system is uncertain about an ingredient, it should be able to </a:t>
            </a:r>
            <a:r>
              <a:rPr lang="en-US" b="1"/>
              <a:t>ask the user conversationally</a:t>
            </a:r>
            <a:r>
              <a:rPr lang="en-US"/>
              <a:t> rather than making assumptions.</a:t>
            </a:r>
          </a:p>
          <a:p>
            <a:r>
              <a:rPr lang="en-US"/>
              <a:t>And finally, we want the system to be flexible. If one optional ingredient is missing, that shouldn't automatically eliminate a recipe. But if a core ingredient is genuinely unavailable, the system should gracefully switch to another option.</a:t>
            </a:r>
          </a:p>
          <a:p>
            <a:r>
              <a:rPr lang="en-US"/>
              <a:t>So the gap we're exploring is essentially: </a:t>
            </a:r>
            <a:r>
              <a:rPr lang="en-US" b="1"/>
              <a:t>how can we combine conversational GenAI with grounded inventory information to help users choose meals they can actually make</a:t>
            </a:r>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literature helped us turn our initial idea into a set of concrete design principles.</a:t>
            </a:r>
          </a:p>
          <a:p>
            <a:r>
              <a:rPr lang="en-US"/>
              <a:t>First, </a:t>
            </a:r>
            <a:r>
              <a:rPr lang="en-US" b="1"/>
              <a:t>preference-aware recommendation</a:t>
            </a:r>
            <a:r>
              <a:rPr lang="en-US"/>
              <a:t>. The research suggests that recommendations are more useful when they account for multiple user goals and constraints, rather than relying on generic preferences. For </a:t>
            </a:r>
            <a:r>
              <a:rPr lang="en-US" err="1"/>
              <a:t>ChefNova</a:t>
            </a:r>
            <a:r>
              <a:rPr lang="en-US"/>
              <a:t>, that means we want to filter based on things like diet, time, protein, and available ingredients before selecting recipes.</a:t>
            </a:r>
          </a:p>
          <a:p>
            <a:r>
              <a:rPr lang="en-US"/>
              <a:t>Second, </a:t>
            </a:r>
            <a:r>
              <a:rPr lang="en-US" b="1"/>
              <a:t>conversational refinement</a:t>
            </a:r>
            <a:r>
              <a:rPr lang="en-US"/>
              <a:t>. Instead of forcing users to specify everything upfront in a form, we want users to be able to express and refine their constraints naturally through conversation.</a:t>
            </a:r>
          </a:p>
          <a:p>
            <a:r>
              <a:rPr lang="en-US"/>
              <a:t>Third, </a:t>
            </a:r>
            <a:r>
              <a:rPr lang="en-US" b="1"/>
              <a:t>human control</a:t>
            </a:r>
            <a:r>
              <a:rPr lang="en-US"/>
              <a:t>. This is particularly important because our inventory information can be uncertain. Users should be able to review and correct what the system thinks they have before that information affects recommendations.</a:t>
            </a:r>
          </a:p>
          <a:p>
            <a:r>
              <a:rPr lang="en-US"/>
              <a:t>And fourth, </a:t>
            </a:r>
            <a:r>
              <a:rPr lang="en-US" b="1"/>
              <a:t>reliability</a:t>
            </a:r>
            <a:r>
              <a:rPr lang="en-US"/>
              <a:t>. The literature reinforces the need to ground generative systems and explicitly handle uncertainty. That's why we're separating the LLM's reasoning from our structured inventory data. The model can interpret the user's request and reason about recipes, while the application and database provide the authoritative inventory state.</a:t>
            </a:r>
          </a:p>
          <a:p>
            <a:r>
              <a:rPr lang="en-US"/>
              <a:t>So the key takeaway from the literature is that </a:t>
            </a:r>
            <a:r>
              <a:rPr lang="en-US" b="1" err="1"/>
              <a:t>ChefNova</a:t>
            </a:r>
            <a:r>
              <a:rPr lang="en-US" b="1"/>
              <a:t> isn't just putting a chatbot on top of a recipe database</a:t>
            </a:r>
            <a:r>
              <a:rPr lang="en-US"/>
              <a:t>. Each research theme maps to a specific design decision around personalization, conversation, human control, and reliability.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 to 1.5 minutes. (about 20s) Concept: "You upload a grocery receipt, we extract the items, and you confirm what you actually have. That confirmed inventory is saved. Then you ask for a meal in your own words and get a recipe you can cook tonight, with quantities and a missing-items list." (about 40s) Why GenAI is essential: "Every input here is unstructured. Receipts are abbreviated differently at every store, so no lookup table turns 'GV WHL MLK 2%' into whole milk. No form parses 'high protein, vegetarian, under 20 minutes,' and those constraints have to survive the rest of the conversation. And deciding whether a missing ingredient is required, optional, or substitutable is a judgment call, not a rule." (about 20s) Why it is not decorative: "We also chose where the model is not in charge. The inventory lives in SQLite and only you confirm it. Quantities are compared in code. So remove the LLM and there is no product, but remove it from the inventory and nothing breaks. That is the line we drew." If asked: this is the same pipeline as the system-flow slide, told as four capabilities instead of seven steps.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our next steps, we're focusing on turning these design principles into a working and testable prototype.</a:t>
            </a:r>
          </a:p>
          <a:p>
            <a:r>
              <a:rPr lang="en-US"/>
              <a:t>First, we'll build the </a:t>
            </a:r>
            <a:r>
              <a:rPr lang="en-US" b="1"/>
              <a:t>receipt extraction and inventory layer</a:t>
            </a:r>
            <a:r>
              <a:rPr lang="en-US"/>
              <a:t>, where we extract the item, quantity, and unit from a receipt and let the user confirm the results before they're stored.</a:t>
            </a:r>
          </a:p>
          <a:p>
            <a:r>
              <a:rPr lang="en-US"/>
              <a:t>Next, we'll build the </a:t>
            </a:r>
            <a:r>
              <a:rPr lang="en-US" b="1"/>
              <a:t>constraint-aware recipe layer</a:t>
            </a:r>
            <a:r>
              <a:rPr lang="en-US"/>
              <a:t>. The user should be able to express constraints like time, diet, protein, or dislikes in natural language, and those constraints need to carry through to the recipe recommendations and ingredient checking.</a:t>
            </a:r>
          </a:p>
          <a:p>
            <a:r>
              <a:rPr lang="en-US"/>
              <a:t>For validation, we've identified five areas we specifically want to test: </a:t>
            </a:r>
            <a:r>
              <a:rPr lang="en-US" b="1"/>
              <a:t>inventory extraction accuracy, constraint preservation, ingredient reasoning, recipe adaptation and switching, and conversational refinement</a:t>
            </a:r>
            <a:r>
              <a:rPr lang="en-US"/>
              <a:t>. These will give us concrete pass/fail cases rather than just demonstrating that the chatbot can generate a recipe.</a:t>
            </a:r>
          </a:p>
          <a:p>
            <a:r>
              <a:rPr lang="en-US"/>
              <a:t>We also have several technical risks we're going to watch closely. Receipt quality can affect extraction, the model may make poor substitution decisions, constraints could be lost during a longer conversation, and inventory can become stale if users don't update it.</a:t>
            </a:r>
          </a:p>
          <a:p>
            <a:r>
              <a:rPr lang="en-US"/>
              <a:t>Our immediate plan is to implement the core pipeline in the first two weeks, run our core agent test cases in week three, and use those results to produce the </a:t>
            </a:r>
            <a:r>
              <a:rPr lang="en-US" b="1"/>
              <a:t>Checkpoint 2 validation report and working prototype demo</a:t>
            </a:r>
            <a:r>
              <a:rPr lang="en-US"/>
              <a:t>.</a:t>
            </a:r>
          </a:p>
          <a:p>
            <a:r>
              <a:rPr lang="en-US"/>
              <a:t>The key question we're carrying forward is: </a:t>
            </a:r>
            <a:r>
              <a:rPr lang="en-US" b="1"/>
              <a:t>can </a:t>
            </a:r>
            <a:r>
              <a:rPr lang="en-US" b="1" err="1"/>
              <a:t>ChefNova</a:t>
            </a:r>
            <a:r>
              <a:rPr lang="en-US" b="1"/>
              <a:t> reliably distinguish between an ingredient that makes a recipe infeasible and one that can reasonably be omitted or substituted?</a:t>
            </a:r>
            <a:r>
              <a:rPr lang="en-US"/>
              <a: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hefNova/ai-che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116"/>
            <a:ext cx="3886200" cy="5143500"/>
          </a:xfrm>
          <a:prstGeom prst="rect">
            <a:avLst/>
          </a:prstGeom>
          <a:solidFill>
            <a:srgbClr val="225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02920"/>
            <a:ext cx="2971800" cy="2971800"/>
          </a:xfrm>
          <a:prstGeom prst="ellipse">
            <a:avLst/>
          </a:prstGeom>
          <a:noFill/>
          <a:ln w="1778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41248" y="932688"/>
            <a:ext cx="2103120" cy="2103120"/>
          </a:xfrm>
          <a:prstGeom prst="ellipse">
            <a:avLst/>
          </a:prstGeom>
          <a:noFill/>
          <a:ln w="1778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82616" y="1583975"/>
            <a:ext cx="2743200" cy="475488"/>
          </a:xfrm>
          <a:prstGeom prst="rect">
            <a:avLst/>
          </a:prstGeom>
          <a:noFill/>
        </p:spPr>
        <p:txBody>
          <a:bodyPr wrap="none" lIns="0" tIns="0" rIns="0" bIns="0" anchor="ctr">
            <a:spAutoFit/>
          </a:bodyPr>
          <a:lstStyle/>
          <a:p>
            <a:pPr algn="l"/>
            <a:r>
              <a:rPr sz="3100" b="1" err="1">
                <a:solidFill>
                  <a:srgbClr val="FFFFFF"/>
                </a:solidFill>
                <a:latin typeface="Aptos Display"/>
              </a:rPr>
              <a:t>ChefNova</a:t>
            </a:r>
            <a:endParaRPr sz="3100" b="1">
              <a:solidFill>
                <a:srgbClr val="FFFFFF"/>
              </a:solidFill>
              <a:latin typeface="Aptos Display"/>
            </a:endParaRPr>
          </a:p>
        </p:txBody>
      </p:sp>
      <p:sp>
        <p:nvSpPr>
          <p:cNvPr id="6" name="TextBox 5"/>
          <p:cNvSpPr txBox="1"/>
          <p:nvPr/>
        </p:nvSpPr>
        <p:spPr>
          <a:xfrm>
            <a:off x="1145342" y="2148282"/>
            <a:ext cx="2743200" cy="164592"/>
          </a:xfrm>
          <a:prstGeom prst="rect">
            <a:avLst/>
          </a:prstGeom>
          <a:noFill/>
        </p:spPr>
        <p:txBody>
          <a:bodyPr wrap="none" lIns="0" tIns="0" rIns="0" bIns="0" anchor="t">
            <a:spAutoFit/>
          </a:bodyPr>
          <a:lstStyle/>
          <a:p>
            <a:pPr algn="l"/>
            <a:r>
              <a:rPr sz="900" b="1">
                <a:solidFill>
                  <a:srgbClr val="CDE4D6"/>
                </a:solidFill>
                <a:latin typeface="Aptos"/>
              </a:rPr>
              <a:t>CHECKPOINT 1  ·  FALL 2026</a:t>
            </a:r>
          </a:p>
        </p:txBody>
      </p:sp>
      <p:sp>
        <p:nvSpPr>
          <p:cNvPr id="7" name="Rounded Rectangle 6"/>
          <p:cNvSpPr/>
          <p:nvPr/>
        </p:nvSpPr>
        <p:spPr>
          <a:xfrm>
            <a:off x="576072" y="4242816"/>
            <a:ext cx="795528" cy="292608"/>
          </a:xfrm>
          <a:prstGeom prst="roundRect">
            <a:avLst/>
          </a:prstGeom>
          <a:solidFill>
            <a:srgbClr val="2E6F55"/>
          </a:solidFill>
          <a:ln w="1016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4338828"/>
            <a:ext cx="795528" cy="91440"/>
          </a:xfrm>
          <a:prstGeom prst="rect">
            <a:avLst/>
          </a:prstGeom>
          <a:noFill/>
        </p:spPr>
        <p:txBody>
          <a:bodyPr wrap="none" lIns="0" tIns="0" rIns="0" bIns="0" anchor="t">
            <a:spAutoFit/>
          </a:bodyPr>
          <a:lstStyle/>
          <a:p>
            <a:pPr algn="ctr"/>
            <a:r>
              <a:rPr sz="720" b="1">
                <a:solidFill>
                  <a:srgbClr val="FFFFFF"/>
                </a:solidFill>
                <a:latin typeface="Aptos"/>
              </a:rPr>
              <a:t>RECEIPT</a:t>
            </a:r>
          </a:p>
        </p:txBody>
      </p:sp>
      <p:sp>
        <p:nvSpPr>
          <p:cNvPr id="9" name="Rounded Rectangle 8"/>
          <p:cNvSpPr/>
          <p:nvPr/>
        </p:nvSpPr>
        <p:spPr>
          <a:xfrm>
            <a:off x="1655064" y="4242816"/>
            <a:ext cx="795528" cy="292608"/>
          </a:xfrm>
          <a:prstGeom prst="roundRect">
            <a:avLst/>
          </a:prstGeom>
          <a:solidFill>
            <a:srgbClr val="2E6F55"/>
          </a:solidFill>
          <a:ln w="1016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55064" y="4338828"/>
            <a:ext cx="795528" cy="91440"/>
          </a:xfrm>
          <a:prstGeom prst="rect">
            <a:avLst/>
          </a:prstGeom>
          <a:noFill/>
        </p:spPr>
        <p:txBody>
          <a:bodyPr wrap="none" lIns="0" tIns="0" rIns="0" bIns="0" anchor="t">
            <a:spAutoFit/>
          </a:bodyPr>
          <a:lstStyle/>
          <a:p>
            <a:pPr algn="ctr"/>
            <a:r>
              <a:rPr sz="720" b="1">
                <a:solidFill>
                  <a:srgbClr val="FFFFFF"/>
                </a:solidFill>
                <a:latin typeface="Aptos"/>
              </a:rPr>
              <a:t>CONFIRM</a:t>
            </a:r>
          </a:p>
        </p:txBody>
      </p:sp>
      <p:sp>
        <p:nvSpPr>
          <p:cNvPr id="11" name="Rounded Rectangle 10"/>
          <p:cNvSpPr/>
          <p:nvPr/>
        </p:nvSpPr>
        <p:spPr>
          <a:xfrm>
            <a:off x="2743200" y="4242816"/>
            <a:ext cx="795528" cy="292608"/>
          </a:xfrm>
          <a:prstGeom prst="roundRect">
            <a:avLst/>
          </a:prstGeom>
          <a:solidFill>
            <a:srgbClr val="2E6F55"/>
          </a:solidFill>
          <a:ln w="10160">
            <a:solidFill>
              <a:srgbClr val="4D9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0" y="4338828"/>
            <a:ext cx="795528" cy="91440"/>
          </a:xfrm>
          <a:prstGeom prst="rect">
            <a:avLst/>
          </a:prstGeom>
          <a:noFill/>
        </p:spPr>
        <p:txBody>
          <a:bodyPr wrap="none" lIns="0" tIns="0" rIns="0" bIns="0" anchor="t">
            <a:spAutoFit/>
          </a:bodyPr>
          <a:lstStyle/>
          <a:p>
            <a:pPr algn="ctr"/>
            <a:r>
              <a:rPr sz="720" b="1">
                <a:solidFill>
                  <a:srgbClr val="FFFFFF"/>
                </a:solidFill>
                <a:latin typeface="Aptos"/>
              </a:rPr>
              <a:t>COOK</a:t>
            </a:r>
          </a:p>
        </p:txBody>
      </p:sp>
      <p:sp>
        <p:nvSpPr>
          <p:cNvPr id="15" name="TextBox 14"/>
          <p:cNvSpPr txBox="1"/>
          <p:nvPr/>
        </p:nvSpPr>
        <p:spPr>
          <a:xfrm>
            <a:off x="704088" y="4645152"/>
            <a:ext cx="2926080" cy="201168"/>
          </a:xfrm>
          <a:prstGeom prst="rect">
            <a:avLst/>
          </a:prstGeom>
          <a:noFill/>
        </p:spPr>
        <p:txBody>
          <a:bodyPr wrap="none" lIns="0" tIns="0" rIns="0" bIns="0" anchor="t">
            <a:spAutoFit/>
          </a:bodyPr>
          <a:lstStyle/>
          <a:p>
            <a:pPr algn="l"/>
            <a:r>
              <a:rPr sz="1050" b="0">
                <a:solidFill>
                  <a:srgbClr val="D9EBE0"/>
                </a:solidFill>
                <a:latin typeface="Aptos"/>
              </a:rPr>
              <a:t>Grounded in what is actually available.</a:t>
            </a:r>
          </a:p>
        </p:txBody>
      </p:sp>
      <p:sp>
        <p:nvSpPr>
          <p:cNvPr id="16" name="TextBox 15"/>
          <p:cNvSpPr txBox="1"/>
          <p:nvPr/>
        </p:nvSpPr>
        <p:spPr>
          <a:xfrm>
            <a:off x="4190517" y="321267"/>
            <a:ext cx="4389120" cy="960120"/>
          </a:xfrm>
          <a:prstGeom prst="rect">
            <a:avLst/>
          </a:prstGeom>
          <a:noFill/>
        </p:spPr>
        <p:txBody>
          <a:bodyPr wrap="none" lIns="0" tIns="0" rIns="0" bIns="0" anchor="t">
            <a:spAutoFit/>
          </a:bodyPr>
          <a:lstStyle/>
          <a:p>
            <a:pPr algn="l"/>
            <a:r>
              <a:rPr sz="2350" b="1">
                <a:solidFill>
                  <a:srgbClr val="131B26"/>
                </a:solidFill>
                <a:latin typeface="Aptos Display"/>
              </a:rPr>
              <a:t>From grocery receipt to a meal
you can actually cook.</a:t>
            </a:r>
          </a:p>
        </p:txBody>
      </p:sp>
      <p:sp>
        <p:nvSpPr>
          <p:cNvPr id="17" name="TextBox 16"/>
          <p:cNvSpPr txBox="1"/>
          <p:nvPr/>
        </p:nvSpPr>
        <p:spPr>
          <a:xfrm>
            <a:off x="4192692" y="1501289"/>
            <a:ext cx="4658238" cy="553998"/>
          </a:xfrm>
          <a:prstGeom prst="rect">
            <a:avLst/>
          </a:prstGeom>
          <a:noFill/>
        </p:spPr>
        <p:txBody>
          <a:bodyPr wrap="square" lIns="0" tIns="0" rIns="0" bIns="0" anchor="t">
            <a:spAutoFit/>
          </a:bodyPr>
          <a:lstStyle/>
          <a:p>
            <a:r>
              <a:rPr sz="1200" b="0">
                <a:solidFill>
                  <a:srgbClr val="2C3644"/>
                </a:solidFill>
                <a:latin typeface="Aptos"/>
              </a:rPr>
              <a:t>ChefNova turns messy purchase data into a user-confirmed pantry,</a:t>
            </a:r>
            <a:br>
              <a:rPr lang="en-US" sz="1200">
                <a:solidFill>
                  <a:srgbClr val="2C3644"/>
                </a:solidFill>
                <a:latin typeface="Aptos"/>
              </a:rPr>
            </a:br>
            <a:r>
              <a:rPr lang="en-US" sz="1200">
                <a:solidFill>
                  <a:srgbClr val="2C3644"/>
                </a:solidFill>
                <a:latin typeface="Aptos"/>
              </a:rPr>
              <a:t> </a:t>
            </a:r>
            <a:r>
              <a:rPr sz="1200" b="0">
                <a:solidFill>
                  <a:srgbClr val="2C3644"/>
                </a:solidFill>
                <a:latin typeface="Aptos"/>
              </a:rPr>
              <a:t>then recommends meals that respect inventory, preferences,</a:t>
            </a:r>
            <a:endParaRPr lang="en-US"/>
          </a:p>
          <a:p>
            <a:r>
              <a:rPr lang="en-US" sz="1200">
                <a:solidFill>
                  <a:srgbClr val="2C3644"/>
                </a:solidFill>
                <a:latin typeface="Aptos"/>
              </a:rPr>
              <a:t> </a:t>
            </a:r>
            <a:r>
              <a:rPr sz="1200" b="0">
                <a:solidFill>
                  <a:srgbClr val="2C3644"/>
                </a:solidFill>
                <a:latin typeface="Aptos"/>
              </a:rPr>
              <a:t>and dietary needs.</a:t>
            </a:r>
            <a:endParaRPr/>
          </a:p>
        </p:txBody>
      </p:sp>
      <p:sp>
        <p:nvSpPr>
          <p:cNvPr id="18" name="Rounded Rectangle 17"/>
          <p:cNvSpPr/>
          <p:nvPr/>
        </p:nvSpPr>
        <p:spPr>
          <a:xfrm>
            <a:off x="4185721" y="2366902"/>
            <a:ext cx="4233672" cy="685800"/>
          </a:xfrm>
          <a:prstGeom prst="roundRect">
            <a:avLst/>
          </a:prstGeom>
          <a:solidFill>
            <a:srgbClr val="E4F0E9"/>
          </a:solidFill>
          <a:ln w="10160">
            <a:solidFill>
              <a:srgbClr val="CBDF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77299" y="2644735"/>
            <a:ext cx="749808" cy="118872"/>
          </a:xfrm>
          <a:prstGeom prst="rect">
            <a:avLst/>
          </a:prstGeom>
          <a:noFill/>
        </p:spPr>
        <p:txBody>
          <a:bodyPr wrap="none" lIns="0" tIns="0" rIns="0" bIns="0" anchor="t">
            <a:spAutoFit/>
          </a:bodyPr>
          <a:lstStyle/>
          <a:p>
            <a:pPr algn="l"/>
            <a:r>
              <a:rPr sz="800" b="1">
                <a:solidFill>
                  <a:srgbClr val="225440"/>
                </a:solidFill>
                <a:latin typeface="Aptos"/>
              </a:rPr>
              <a:t>CORE IDEA</a:t>
            </a:r>
          </a:p>
        </p:txBody>
      </p:sp>
      <p:sp>
        <p:nvSpPr>
          <p:cNvPr id="20" name="TextBox 19"/>
          <p:cNvSpPr txBox="1"/>
          <p:nvPr/>
        </p:nvSpPr>
        <p:spPr>
          <a:xfrm>
            <a:off x="5642852" y="2529765"/>
            <a:ext cx="3054988" cy="356616"/>
          </a:xfrm>
          <a:prstGeom prst="rect">
            <a:avLst/>
          </a:prstGeom>
          <a:noFill/>
        </p:spPr>
        <p:txBody>
          <a:bodyPr wrap="square" lIns="0" tIns="0" rIns="0" bIns="0" anchor="t">
            <a:spAutoFit/>
          </a:bodyPr>
          <a:lstStyle/>
          <a:p>
            <a:pPr algn="l"/>
            <a:r>
              <a:rPr sz="1160" b="1">
                <a:solidFill>
                  <a:srgbClr val="131B26"/>
                </a:solidFill>
                <a:latin typeface="Aptos"/>
              </a:rPr>
              <a:t>The model interprets ambiguity;
the user owns the inventory truth.</a:t>
            </a:r>
          </a:p>
        </p:txBody>
      </p:sp>
      <p:sp>
        <p:nvSpPr>
          <p:cNvPr id="22" name="TextBox 21"/>
          <p:cNvSpPr txBox="1"/>
          <p:nvPr/>
        </p:nvSpPr>
        <p:spPr>
          <a:xfrm>
            <a:off x="4297234" y="3425822"/>
            <a:ext cx="1719072" cy="146304"/>
          </a:xfrm>
          <a:prstGeom prst="rect">
            <a:avLst/>
          </a:prstGeom>
          <a:noFill/>
        </p:spPr>
        <p:txBody>
          <a:bodyPr wrap="none" lIns="0" tIns="0" rIns="0" bIns="0" anchor="t">
            <a:spAutoFit/>
          </a:bodyPr>
          <a:lstStyle/>
          <a:p>
            <a:pPr algn="l"/>
            <a:r>
              <a:rPr sz="940" b="1">
                <a:solidFill>
                  <a:srgbClr val="131B26"/>
                </a:solidFill>
                <a:latin typeface="Aptos"/>
              </a:rPr>
              <a:t>Chaitanya Nirantar</a:t>
            </a:r>
          </a:p>
        </p:txBody>
      </p:sp>
      <p:sp>
        <p:nvSpPr>
          <p:cNvPr id="23" name="TextBox 22"/>
          <p:cNvSpPr txBox="1"/>
          <p:nvPr/>
        </p:nvSpPr>
        <p:spPr>
          <a:xfrm>
            <a:off x="6052882" y="3425822"/>
            <a:ext cx="2148840" cy="146304"/>
          </a:xfrm>
          <a:prstGeom prst="rect">
            <a:avLst/>
          </a:prstGeom>
          <a:noFill/>
        </p:spPr>
        <p:txBody>
          <a:bodyPr wrap="none" lIns="0" tIns="0" rIns="0" bIns="0" anchor="t">
            <a:spAutoFit/>
          </a:bodyPr>
          <a:lstStyle/>
          <a:p>
            <a:pPr algn="l"/>
            <a:r>
              <a:rPr sz="940" b="0">
                <a:solidFill>
                  <a:srgbClr val="5F6C7C"/>
                </a:solidFill>
                <a:latin typeface="Aptos"/>
              </a:rPr>
              <a:t>Problem &amp; Users</a:t>
            </a:r>
          </a:p>
        </p:txBody>
      </p:sp>
      <p:sp>
        <p:nvSpPr>
          <p:cNvPr id="24" name="TextBox 23"/>
          <p:cNvSpPr txBox="1"/>
          <p:nvPr/>
        </p:nvSpPr>
        <p:spPr>
          <a:xfrm>
            <a:off x="4297234" y="3654422"/>
            <a:ext cx="891270" cy="138499"/>
          </a:xfrm>
          <a:prstGeom prst="rect">
            <a:avLst/>
          </a:prstGeom>
          <a:noFill/>
        </p:spPr>
        <p:txBody>
          <a:bodyPr wrap="none" lIns="0" tIns="0" rIns="0" bIns="0" anchor="t">
            <a:spAutoFit/>
          </a:bodyPr>
          <a:lstStyle/>
          <a:p>
            <a:r>
              <a:rPr lang="en-US" sz="900">
                <a:solidFill>
                  <a:srgbClr val="131B26"/>
                </a:solidFill>
                <a:latin typeface="Aptos"/>
              </a:rPr>
              <a:t>Ananya Jandhyala</a:t>
            </a:r>
          </a:p>
        </p:txBody>
      </p:sp>
      <p:sp>
        <p:nvSpPr>
          <p:cNvPr id="25" name="TextBox 24"/>
          <p:cNvSpPr txBox="1"/>
          <p:nvPr/>
        </p:nvSpPr>
        <p:spPr>
          <a:xfrm>
            <a:off x="6052882" y="3654422"/>
            <a:ext cx="2148840" cy="146304"/>
          </a:xfrm>
          <a:prstGeom prst="rect">
            <a:avLst/>
          </a:prstGeom>
          <a:noFill/>
        </p:spPr>
        <p:txBody>
          <a:bodyPr wrap="none" lIns="0" tIns="0" rIns="0" bIns="0" anchor="t">
            <a:spAutoFit/>
          </a:bodyPr>
          <a:lstStyle/>
          <a:p>
            <a:pPr algn="l"/>
            <a:r>
              <a:rPr sz="940" b="0">
                <a:solidFill>
                  <a:srgbClr val="5F6C7C"/>
                </a:solidFill>
                <a:latin typeface="Aptos"/>
              </a:rPr>
              <a:t>Literature &amp; Tools</a:t>
            </a:r>
          </a:p>
        </p:txBody>
      </p:sp>
      <p:sp>
        <p:nvSpPr>
          <p:cNvPr id="26" name="TextBox 25"/>
          <p:cNvSpPr txBox="1"/>
          <p:nvPr/>
        </p:nvSpPr>
        <p:spPr>
          <a:xfrm>
            <a:off x="4297234" y="3883022"/>
            <a:ext cx="1719072" cy="146304"/>
          </a:xfrm>
          <a:prstGeom prst="rect">
            <a:avLst/>
          </a:prstGeom>
          <a:noFill/>
        </p:spPr>
        <p:txBody>
          <a:bodyPr wrap="none" lIns="0" tIns="0" rIns="0" bIns="0" anchor="t">
            <a:spAutoFit/>
          </a:bodyPr>
          <a:lstStyle/>
          <a:p>
            <a:pPr algn="l"/>
            <a:r>
              <a:rPr sz="940" b="0">
                <a:solidFill>
                  <a:srgbClr val="131B26"/>
                </a:solidFill>
                <a:latin typeface="Aptos"/>
              </a:rPr>
              <a:t>Aditya Dilip</a:t>
            </a:r>
          </a:p>
        </p:txBody>
      </p:sp>
      <p:sp>
        <p:nvSpPr>
          <p:cNvPr id="27" name="TextBox 26"/>
          <p:cNvSpPr txBox="1"/>
          <p:nvPr/>
        </p:nvSpPr>
        <p:spPr>
          <a:xfrm>
            <a:off x="6052882" y="3883022"/>
            <a:ext cx="2148840" cy="146304"/>
          </a:xfrm>
          <a:prstGeom prst="rect">
            <a:avLst/>
          </a:prstGeom>
          <a:noFill/>
        </p:spPr>
        <p:txBody>
          <a:bodyPr wrap="none" lIns="0" tIns="0" rIns="0" bIns="0" anchor="t">
            <a:spAutoFit/>
          </a:bodyPr>
          <a:lstStyle/>
          <a:p>
            <a:pPr algn="l"/>
            <a:r>
              <a:rPr sz="940" b="0">
                <a:solidFill>
                  <a:srgbClr val="5F6C7C"/>
                </a:solidFill>
                <a:latin typeface="Aptos"/>
              </a:rPr>
              <a:t>Technical Approach</a:t>
            </a:r>
          </a:p>
        </p:txBody>
      </p:sp>
      <p:sp>
        <p:nvSpPr>
          <p:cNvPr id="28" name="TextBox 27"/>
          <p:cNvSpPr txBox="1"/>
          <p:nvPr/>
        </p:nvSpPr>
        <p:spPr>
          <a:xfrm>
            <a:off x="4297234" y="4111622"/>
            <a:ext cx="931345" cy="138499"/>
          </a:xfrm>
          <a:prstGeom prst="rect">
            <a:avLst/>
          </a:prstGeom>
          <a:noFill/>
        </p:spPr>
        <p:txBody>
          <a:bodyPr wrap="none" lIns="0" tIns="0" rIns="0" bIns="0" anchor="t">
            <a:spAutoFit/>
          </a:bodyPr>
          <a:lstStyle/>
          <a:p>
            <a:r>
              <a:rPr lang="en-US" sz="900">
                <a:solidFill>
                  <a:srgbClr val="131B26"/>
                </a:solidFill>
                <a:latin typeface="Aptos"/>
              </a:rPr>
              <a:t>Prathamesh Mulay</a:t>
            </a:r>
            <a:endParaRPr lang="en-US" sz="900" b="0">
              <a:solidFill>
                <a:srgbClr val="131B26"/>
              </a:solidFill>
              <a:latin typeface="Aptos"/>
            </a:endParaRPr>
          </a:p>
        </p:txBody>
      </p:sp>
      <p:sp>
        <p:nvSpPr>
          <p:cNvPr id="29" name="TextBox 28"/>
          <p:cNvSpPr txBox="1"/>
          <p:nvPr/>
        </p:nvSpPr>
        <p:spPr>
          <a:xfrm>
            <a:off x="6052882" y="4111622"/>
            <a:ext cx="1723229" cy="138499"/>
          </a:xfrm>
          <a:prstGeom prst="rect">
            <a:avLst/>
          </a:prstGeom>
          <a:noFill/>
        </p:spPr>
        <p:txBody>
          <a:bodyPr wrap="none" lIns="0" tIns="0" rIns="0" bIns="0" anchor="t">
            <a:spAutoFit/>
          </a:bodyPr>
          <a:lstStyle/>
          <a:p>
            <a:r>
              <a:rPr lang="en-US" sz="900">
                <a:solidFill>
                  <a:srgbClr val="5F6C7C"/>
                </a:solidFill>
                <a:latin typeface="Aptos"/>
              </a:rPr>
              <a:t>Repository, Roadmap &amp; Integration</a:t>
            </a:r>
          </a:p>
        </p:txBody>
      </p:sp>
      <p:sp>
        <p:nvSpPr>
          <p:cNvPr id="30" name="Rounded Rectangle 29"/>
          <p:cNvSpPr/>
          <p:nvPr/>
        </p:nvSpPr>
        <p:spPr>
          <a:xfrm>
            <a:off x="4325112" y="4681728"/>
            <a:ext cx="3886200" cy="292608"/>
          </a:xfrm>
          <a:prstGeom prst="roundRect">
            <a:avLst/>
          </a:prstGeom>
          <a:solidFill>
            <a:srgbClr val="F5F7F9"/>
          </a:solidFill>
          <a:ln w="889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98848" y="4777740"/>
            <a:ext cx="411480" cy="91440"/>
          </a:xfrm>
          <a:prstGeom prst="rect">
            <a:avLst/>
          </a:prstGeom>
          <a:noFill/>
        </p:spPr>
        <p:txBody>
          <a:bodyPr wrap="none" lIns="0" tIns="0" rIns="0" bIns="0" anchor="t">
            <a:spAutoFit/>
          </a:bodyPr>
          <a:lstStyle/>
          <a:p>
            <a:pPr algn="l"/>
            <a:r>
              <a:rPr sz="770" b="1">
                <a:solidFill>
                  <a:srgbClr val="225440"/>
                </a:solidFill>
                <a:latin typeface="Aptos"/>
              </a:rPr>
              <a:t>GitHub</a:t>
            </a:r>
          </a:p>
        </p:txBody>
      </p:sp>
      <p:sp>
        <p:nvSpPr>
          <p:cNvPr id="32" name="TextBox 31"/>
          <p:cNvSpPr txBox="1"/>
          <p:nvPr/>
        </p:nvSpPr>
        <p:spPr>
          <a:xfrm>
            <a:off x="4992624" y="4777740"/>
            <a:ext cx="2331720" cy="91440"/>
          </a:xfrm>
          <a:prstGeom prst="rect">
            <a:avLst/>
          </a:prstGeom>
          <a:noFill/>
        </p:spPr>
        <p:txBody>
          <a:bodyPr wrap="none" lIns="0" tIns="0" rIns="0" bIns="0" anchor="t">
            <a:spAutoFit/>
          </a:bodyPr>
          <a:lstStyle/>
          <a:p>
            <a:pPr algn="l"/>
            <a:r>
              <a:rPr sz="770" b="0">
                <a:solidFill>
                  <a:srgbClr val="5F6C7C"/>
                </a:solidFill>
                <a:latin typeface="Aptos"/>
                <a:hlinkClick r:id="rId3"/>
              </a:rPr>
              <a:t>github.com/ChefNova/ai-chef</a:t>
            </a:r>
          </a:p>
        </p:txBody>
      </p:sp>
      <p:sp>
        <p:nvSpPr>
          <p:cNvPr id="33" name="Chevron 32"/>
          <p:cNvSpPr/>
          <p:nvPr/>
        </p:nvSpPr>
        <p:spPr>
          <a:xfrm>
            <a:off x="1435608" y="4297680"/>
            <a:ext cx="146304" cy="182880"/>
          </a:xfrm>
          <a:prstGeom prst="chevron">
            <a:avLst/>
          </a:prstGeom>
          <a:solidFill>
            <a:srgbClr val="4D9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hevron 33"/>
          <p:cNvSpPr/>
          <p:nvPr/>
        </p:nvSpPr>
        <p:spPr>
          <a:xfrm>
            <a:off x="2523744" y="4297680"/>
            <a:ext cx="146304" cy="182880"/>
          </a:xfrm>
          <a:prstGeom prst="chevron">
            <a:avLst/>
          </a:prstGeom>
          <a:solidFill>
            <a:srgbClr val="4D96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0"/>
          </a:xfrm>
          <a:prstGeom prst="rect">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3657600" cy="146304"/>
          </a:xfrm>
          <a:prstGeom prst="rect">
            <a:avLst/>
          </a:prstGeom>
          <a:noFill/>
        </p:spPr>
        <p:txBody>
          <a:bodyPr wrap="none" lIns="0" tIns="0" rIns="0" bIns="0" anchor="t">
            <a:spAutoFit/>
          </a:bodyPr>
          <a:lstStyle/>
          <a:p>
            <a:pPr algn="l"/>
            <a:r>
              <a:rPr sz="900" b="1">
                <a:solidFill>
                  <a:srgbClr val="D2E8DB"/>
                </a:solidFill>
                <a:latin typeface="Aptos"/>
              </a:rPr>
              <a:t>THE PROBLEM</a:t>
            </a:r>
          </a:p>
        </p:txBody>
      </p:sp>
      <p:sp>
        <p:nvSpPr>
          <p:cNvPr id="4" name="TextBox 3"/>
          <p:cNvSpPr txBox="1"/>
          <p:nvPr/>
        </p:nvSpPr>
        <p:spPr>
          <a:xfrm>
            <a:off x="365760" y="768096"/>
            <a:ext cx="7955279" cy="749808"/>
          </a:xfrm>
          <a:prstGeom prst="rect">
            <a:avLst/>
          </a:prstGeom>
          <a:noFill/>
        </p:spPr>
        <p:txBody>
          <a:bodyPr wrap="none" lIns="0" tIns="0" rIns="0" bIns="0" anchor="t">
            <a:spAutoFit/>
          </a:bodyPr>
          <a:lstStyle/>
          <a:p>
            <a:pPr algn="l"/>
            <a:r>
              <a:rPr sz="2250" b="1">
                <a:solidFill>
                  <a:srgbClr val="131B26"/>
                </a:solidFill>
                <a:latin typeface="Aptos Display"/>
              </a:rPr>
              <a:t>The real problem isn’t finding recipes —
it’s knowing what will work tonight.</a:t>
            </a:r>
          </a:p>
        </p:txBody>
      </p:sp>
      <p:sp>
        <p:nvSpPr>
          <p:cNvPr id="5" name="TextBox 4"/>
          <p:cNvSpPr txBox="1"/>
          <p:nvPr/>
        </p:nvSpPr>
        <p:spPr>
          <a:xfrm>
            <a:off x="365760" y="1572768"/>
            <a:ext cx="8183879" cy="365760"/>
          </a:xfrm>
          <a:prstGeom prst="rect">
            <a:avLst/>
          </a:prstGeom>
          <a:noFill/>
        </p:spPr>
        <p:txBody>
          <a:bodyPr wrap="none" lIns="0" tIns="0" rIns="0" bIns="0" anchor="t">
            <a:spAutoFit/>
          </a:bodyPr>
          <a:lstStyle/>
          <a:p>
            <a:pPr algn="l"/>
            <a:r>
              <a:rPr sz="1120" b="0">
                <a:solidFill>
                  <a:srgbClr val="5F6C7C"/>
                </a:solidFill>
                <a:latin typeface="Aptos"/>
              </a:rPr>
              <a:t>A receipt captures what was purchased. Cooking depends on what remains, what is feasible, and which constraints still apply.</a:t>
            </a:r>
          </a:p>
        </p:txBody>
      </p:sp>
      <p:sp>
        <p:nvSpPr>
          <p:cNvPr id="6" name="Rounded Rectangle 5"/>
          <p:cNvSpPr/>
          <p:nvPr/>
        </p:nvSpPr>
        <p:spPr>
          <a:xfrm>
            <a:off x="365760" y="2112264"/>
            <a:ext cx="2688336" cy="1645920"/>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6928" y="2340864"/>
            <a:ext cx="411480" cy="411480"/>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900" b="1">
                <a:solidFill>
                  <a:srgbClr val="FFFFFF"/>
                </a:solidFill>
                <a:latin typeface="Aptos"/>
              </a:rPr>
              <a:t>1</a:t>
            </a:r>
            <a:endParaRPr sz="930" b="1">
              <a:solidFill>
                <a:srgbClr val="FFFFFF"/>
              </a:solidFill>
              <a:latin typeface="Aptos"/>
            </a:endParaRPr>
          </a:p>
        </p:txBody>
      </p:sp>
      <p:sp>
        <p:nvSpPr>
          <p:cNvPr id="8" name="TextBox 7"/>
          <p:cNvSpPr txBox="1"/>
          <p:nvPr/>
        </p:nvSpPr>
        <p:spPr>
          <a:xfrm>
            <a:off x="566928" y="2816352"/>
            <a:ext cx="2286000" cy="329184"/>
          </a:xfrm>
          <a:prstGeom prst="rect">
            <a:avLst/>
          </a:prstGeom>
          <a:noFill/>
        </p:spPr>
        <p:txBody>
          <a:bodyPr wrap="none" lIns="0" tIns="0" rIns="0" bIns="0" anchor="t">
            <a:spAutoFit/>
          </a:bodyPr>
          <a:lstStyle/>
          <a:p>
            <a:pPr algn="l"/>
            <a:r>
              <a:rPr sz="1310" b="1">
                <a:solidFill>
                  <a:srgbClr val="131B26"/>
                </a:solidFill>
                <a:latin typeface="Aptos"/>
              </a:rPr>
              <a:t>Purchase history goes stale</a:t>
            </a:r>
          </a:p>
        </p:txBody>
      </p:sp>
      <p:sp>
        <p:nvSpPr>
          <p:cNvPr id="9" name="TextBox 8"/>
          <p:cNvSpPr txBox="1"/>
          <p:nvPr/>
        </p:nvSpPr>
        <p:spPr>
          <a:xfrm>
            <a:off x="566928" y="3200400"/>
            <a:ext cx="2348400" cy="292388"/>
          </a:xfrm>
          <a:prstGeom prst="rect">
            <a:avLst/>
          </a:prstGeom>
          <a:noFill/>
        </p:spPr>
        <p:txBody>
          <a:bodyPr wrap="none" lIns="0" tIns="0" rIns="0" bIns="0" anchor="t">
            <a:spAutoFit/>
          </a:bodyPr>
          <a:lstStyle/>
          <a:p>
            <a:r>
              <a:rPr sz="950" b="0">
                <a:solidFill>
                  <a:srgbClr val="5F6C7C"/>
                </a:solidFill>
                <a:latin typeface="Aptos"/>
              </a:rPr>
              <a:t>Receipts say what you bought — not what</a:t>
            </a:r>
            <a:br>
              <a:rPr lang="en-US" sz="950">
                <a:solidFill>
                  <a:srgbClr val="5F6C7C"/>
                </a:solidFill>
                <a:latin typeface="Aptos"/>
              </a:rPr>
            </a:br>
            <a:r>
              <a:rPr lang="en-US" sz="950">
                <a:solidFill>
                  <a:srgbClr val="5F6C7C"/>
                </a:solidFill>
                <a:latin typeface="Aptos"/>
              </a:rPr>
              <a:t> </a:t>
            </a:r>
            <a:r>
              <a:rPr sz="950" b="0">
                <a:solidFill>
                  <a:srgbClr val="5F6C7C"/>
                </a:solidFill>
                <a:latin typeface="Aptos"/>
              </a:rPr>
              <a:t>was already used, discarded, or substituted.</a:t>
            </a:r>
          </a:p>
        </p:txBody>
      </p:sp>
      <p:sp>
        <p:nvSpPr>
          <p:cNvPr id="10" name="Rounded Rectangle 9"/>
          <p:cNvSpPr/>
          <p:nvPr/>
        </p:nvSpPr>
        <p:spPr>
          <a:xfrm>
            <a:off x="3227832" y="2112264"/>
            <a:ext cx="2688336" cy="1645920"/>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429000" y="2340864"/>
            <a:ext cx="411480" cy="411480"/>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900" b="1">
                <a:solidFill>
                  <a:srgbClr val="FFFFFF"/>
                </a:solidFill>
                <a:latin typeface="Aptos"/>
              </a:rPr>
              <a:t>2</a:t>
            </a:r>
            <a:endParaRPr sz="930" b="1">
              <a:solidFill>
                <a:srgbClr val="FFFFFF"/>
              </a:solidFill>
              <a:latin typeface="Aptos"/>
            </a:endParaRPr>
          </a:p>
        </p:txBody>
      </p:sp>
      <p:sp>
        <p:nvSpPr>
          <p:cNvPr id="12" name="TextBox 11"/>
          <p:cNvSpPr txBox="1"/>
          <p:nvPr/>
        </p:nvSpPr>
        <p:spPr>
          <a:xfrm>
            <a:off x="3429000" y="2816352"/>
            <a:ext cx="2286000" cy="329184"/>
          </a:xfrm>
          <a:prstGeom prst="rect">
            <a:avLst/>
          </a:prstGeom>
          <a:noFill/>
        </p:spPr>
        <p:txBody>
          <a:bodyPr wrap="none" lIns="0" tIns="0" rIns="0" bIns="0" anchor="t">
            <a:spAutoFit/>
          </a:bodyPr>
          <a:lstStyle/>
          <a:p>
            <a:pPr algn="l"/>
            <a:r>
              <a:rPr sz="1310" b="1">
                <a:solidFill>
                  <a:srgbClr val="131B26"/>
                </a:solidFill>
                <a:latin typeface="Aptos"/>
              </a:rPr>
              <a:t>Recipes fail at cook time</a:t>
            </a:r>
          </a:p>
        </p:txBody>
      </p:sp>
      <p:sp>
        <p:nvSpPr>
          <p:cNvPr id="13" name="TextBox 12"/>
          <p:cNvSpPr txBox="1"/>
          <p:nvPr/>
        </p:nvSpPr>
        <p:spPr>
          <a:xfrm>
            <a:off x="3429000" y="3200400"/>
            <a:ext cx="2213748" cy="438582"/>
          </a:xfrm>
          <a:prstGeom prst="rect">
            <a:avLst/>
          </a:prstGeom>
          <a:noFill/>
        </p:spPr>
        <p:txBody>
          <a:bodyPr wrap="none" lIns="0" tIns="0" rIns="0" bIns="0" anchor="t">
            <a:spAutoFit/>
          </a:bodyPr>
          <a:lstStyle/>
          <a:p>
            <a:r>
              <a:rPr sz="950" b="0">
                <a:solidFill>
                  <a:srgbClr val="5F6C7C"/>
                </a:solidFill>
                <a:latin typeface="Aptos"/>
              </a:rPr>
              <a:t>One missing core ingredient or too little</a:t>
            </a:r>
            <a:br>
              <a:rPr lang="en-US" sz="950">
                <a:solidFill>
                  <a:srgbClr val="5F6C7C"/>
                </a:solidFill>
                <a:latin typeface="Aptos"/>
              </a:rPr>
            </a:br>
            <a:r>
              <a:rPr lang="en-US" sz="950">
                <a:solidFill>
                  <a:srgbClr val="5F6C7C"/>
                </a:solidFill>
                <a:latin typeface="Aptos"/>
              </a:rPr>
              <a:t> </a:t>
            </a:r>
            <a:r>
              <a:rPr sz="950" b="0">
                <a:solidFill>
                  <a:srgbClr val="5F6C7C"/>
                </a:solidFill>
                <a:latin typeface="Aptos"/>
              </a:rPr>
              <a:t>stock can make an otherwise good recipe </a:t>
            </a:r>
            <a:br>
              <a:rPr lang="en-US" sz="950">
                <a:solidFill>
                  <a:srgbClr val="5F6C7C"/>
                </a:solidFill>
                <a:latin typeface="Aptos"/>
              </a:rPr>
            </a:br>
            <a:r>
              <a:rPr sz="950" b="0">
                <a:solidFill>
                  <a:srgbClr val="5F6C7C"/>
                </a:solidFill>
                <a:latin typeface="Aptos"/>
              </a:rPr>
              <a:t>unusable.</a:t>
            </a:r>
          </a:p>
        </p:txBody>
      </p:sp>
      <p:sp>
        <p:nvSpPr>
          <p:cNvPr id="14" name="Rounded Rectangle 13"/>
          <p:cNvSpPr/>
          <p:nvPr/>
        </p:nvSpPr>
        <p:spPr>
          <a:xfrm>
            <a:off x="6089904" y="2112264"/>
            <a:ext cx="2688336" cy="1645920"/>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291072" y="2340864"/>
            <a:ext cx="411480" cy="411480"/>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900" b="1">
                <a:solidFill>
                  <a:srgbClr val="FFFFFF"/>
                </a:solidFill>
                <a:latin typeface="Aptos"/>
              </a:rPr>
              <a:t>3</a:t>
            </a:r>
            <a:endParaRPr sz="930" b="1">
              <a:solidFill>
                <a:srgbClr val="FFFFFF"/>
              </a:solidFill>
              <a:latin typeface="Aptos"/>
            </a:endParaRPr>
          </a:p>
        </p:txBody>
      </p:sp>
      <p:sp>
        <p:nvSpPr>
          <p:cNvPr id="16" name="TextBox 15"/>
          <p:cNvSpPr txBox="1"/>
          <p:nvPr/>
        </p:nvSpPr>
        <p:spPr>
          <a:xfrm>
            <a:off x="6291072" y="2816352"/>
            <a:ext cx="2286000" cy="329184"/>
          </a:xfrm>
          <a:prstGeom prst="rect">
            <a:avLst/>
          </a:prstGeom>
          <a:noFill/>
        </p:spPr>
        <p:txBody>
          <a:bodyPr wrap="none" lIns="0" tIns="0" rIns="0" bIns="0" anchor="t">
            <a:spAutoFit/>
          </a:bodyPr>
          <a:lstStyle/>
          <a:p>
            <a:pPr algn="l"/>
            <a:r>
              <a:rPr sz="1310" b="1">
                <a:solidFill>
                  <a:srgbClr val="131B26"/>
                </a:solidFill>
                <a:latin typeface="Aptos"/>
              </a:rPr>
              <a:t>Every meal repeats the checks</a:t>
            </a:r>
          </a:p>
        </p:txBody>
      </p:sp>
      <p:sp>
        <p:nvSpPr>
          <p:cNvPr id="17" name="TextBox 16"/>
          <p:cNvSpPr txBox="1"/>
          <p:nvPr/>
        </p:nvSpPr>
        <p:spPr>
          <a:xfrm>
            <a:off x="6291072" y="3200400"/>
            <a:ext cx="2327560" cy="292388"/>
          </a:xfrm>
          <a:prstGeom prst="rect">
            <a:avLst/>
          </a:prstGeom>
          <a:noFill/>
        </p:spPr>
        <p:txBody>
          <a:bodyPr wrap="none" lIns="0" tIns="0" rIns="0" bIns="0" anchor="t">
            <a:spAutoFit/>
          </a:bodyPr>
          <a:lstStyle/>
          <a:p>
            <a:r>
              <a:rPr sz="950" b="0">
                <a:solidFill>
                  <a:srgbClr val="5F6C7C"/>
                </a:solidFill>
                <a:latin typeface="Aptos"/>
              </a:rPr>
              <a:t>Stock, time, diet, equipment, and dislikes all</a:t>
            </a:r>
            <a:br>
              <a:rPr lang="en-US" sz="950">
                <a:solidFill>
                  <a:srgbClr val="5F6C7C"/>
                </a:solidFill>
                <a:latin typeface="Aptos"/>
              </a:rPr>
            </a:br>
            <a:r>
              <a:rPr lang="en-US" sz="950">
                <a:solidFill>
                  <a:srgbClr val="5F6C7C"/>
                </a:solidFill>
                <a:latin typeface="Aptos"/>
              </a:rPr>
              <a:t> </a:t>
            </a:r>
            <a:r>
              <a:rPr sz="950" b="0">
                <a:solidFill>
                  <a:srgbClr val="5F6C7C"/>
                </a:solidFill>
                <a:latin typeface="Aptos"/>
              </a:rPr>
              <a:t>have to line up before dinner works.</a:t>
            </a:r>
          </a:p>
        </p:txBody>
      </p:sp>
      <p:sp>
        <p:nvSpPr>
          <p:cNvPr id="18" name="Rounded Rectangle 17"/>
          <p:cNvSpPr/>
          <p:nvPr/>
        </p:nvSpPr>
        <p:spPr>
          <a:xfrm>
            <a:off x="365760" y="3968496"/>
            <a:ext cx="8412480" cy="731520"/>
          </a:xfrm>
          <a:prstGeom prst="roundRect">
            <a:avLst/>
          </a:prstGeom>
          <a:solidFill>
            <a:srgbClr val="225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648" y="4197096"/>
            <a:ext cx="1234440" cy="109728"/>
          </a:xfrm>
          <a:prstGeom prst="rect">
            <a:avLst/>
          </a:prstGeom>
          <a:noFill/>
        </p:spPr>
        <p:txBody>
          <a:bodyPr wrap="none" lIns="0" tIns="0" rIns="0" bIns="0" anchor="t">
            <a:spAutoFit/>
          </a:bodyPr>
          <a:lstStyle/>
          <a:p>
            <a:pPr algn="l"/>
            <a:r>
              <a:rPr sz="770" b="1">
                <a:solidFill>
                  <a:srgbClr val="CDE5D7"/>
                </a:solidFill>
                <a:latin typeface="Aptos"/>
              </a:rPr>
              <a:t>DESIGN HYPOTHESIS</a:t>
            </a:r>
          </a:p>
        </p:txBody>
      </p:sp>
      <p:sp>
        <p:nvSpPr>
          <p:cNvPr id="20" name="TextBox 19"/>
          <p:cNvSpPr txBox="1"/>
          <p:nvPr/>
        </p:nvSpPr>
        <p:spPr>
          <a:xfrm>
            <a:off x="1920240" y="4096512"/>
            <a:ext cx="6729406" cy="323165"/>
          </a:xfrm>
          <a:prstGeom prst="rect">
            <a:avLst/>
          </a:prstGeom>
          <a:noFill/>
        </p:spPr>
        <p:txBody>
          <a:bodyPr wrap="none" lIns="0" tIns="0" rIns="0" bIns="0" anchor="t">
            <a:spAutoFit/>
          </a:bodyPr>
          <a:lstStyle/>
          <a:p>
            <a:r>
              <a:rPr sz="1050" b="1">
                <a:solidFill>
                  <a:srgbClr val="FFFFFF"/>
                </a:solidFill>
                <a:latin typeface="Aptos"/>
              </a:rPr>
              <a:t>Ground recommendations in a user-confirmed inventory; use GenAI for receipt ambiguity, flexible constraints,</a:t>
            </a:r>
            <a:br>
              <a:rPr lang="en-US" sz="1050" b="1">
                <a:solidFill>
                  <a:srgbClr val="FFFFFF"/>
                </a:solidFill>
                <a:latin typeface="Aptos"/>
              </a:rPr>
            </a:br>
            <a:r>
              <a:rPr lang="en-US" sz="1050" b="1">
                <a:solidFill>
                  <a:srgbClr val="FFFFFF"/>
                </a:solidFill>
                <a:latin typeface="Aptos"/>
              </a:rPr>
              <a:t> </a:t>
            </a:r>
            <a:r>
              <a:rPr sz="1050" b="1">
                <a:solidFill>
                  <a:srgbClr val="FFFFFF"/>
                </a:solidFill>
                <a:latin typeface="Aptos"/>
              </a:rPr>
              <a:t>and substitutions.</a:t>
            </a:r>
          </a:p>
        </p:txBody>
      </p:sp>
      <p:sp>
        <p:nvSpPr>
          <p:cNvPr id="22" name="TextBox 21"/>
          <p:cNvSpPr txBox="1"/>
          <p:nvPr/>
        </p:nvSpPr>
        <p:spPr>
          <a:xfrm>
            <a:off x="365760" y="4919472"/>
            <a:ext cx="1920240" cy="109728"/>
          </a:xfrm>
          <a:prstGeom prst="rect">
            <a:avLst/>
          </a:prstGeom>
          <a:noFill/>
        </p:spPr>
        <p:txBody>
          <a:bodyPr wrap="none" lIns="0" tIns="0" rIns="0" bIns="0" anchor="t">
            <a:spAutoFit/>
          </a:bodyPr>
          <a:lstStyle/>
          <a:p>
            <a:pPr algn="l"/>
            <a:r>
              <a:rPr sz="750" b="0">
                <a:solidFill>
                  <a:srgbClr val="5F6C7C"/>
                </a:solidFill>
                <a:latin typeface="Aptos"/>
              </a:rPr>
              <a:t>ChefNova  ·  Checkpoint 1</a:t>
            </a:r>
          </a:p>
        </p:txBody>
      </p:sp>
      <p:sp>
        <p:nvSpPr>
          <p:cNvPr id="23" name="TextBox 22"/>
          <p:cNvSpPr txBox="1"/>
          <p:nvPr/>
        </p:nvSpPr>
        <p:spPr>
          <a:xfrm>
            <a:off x="8686800" y="4910328"/>
            <a:ext cx="109728" cy="109728"/>
          </a:xfrm>
          <a:prstGeom prst="rect">
            <a:avLst/>
          </a:prstGeom>
          <a:noFill/>
        </p:spPr>
        <p:txBody>
          <a:bodyPr wrap="none" lIns="0" tIns="0" rIns="0" bIns="0" anchor="t">
            <a:spAutoFit/>
          </a:bodyPr>
          <a:lstStyle/>
          <a:p>
            <a:pPr algn="r"/>
            <a:r>
              <a:rPr sz="750" b="0">
                <a:solidFill>
                  <a:srgbClr val="5F6C7C"/>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0"/>
          </a:xfrm>
          <a:prstGeom prst="rect">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3657600" cy="146304"/>
          </a:xfrm>
          <a:prstGeom prst="rect">
            <a:avLst/>
          </a:prstGeom>
          <a:noFill/>
        </p:spPr>
        <p:txBody>
          <a:bodyPr wrap="none" lIns="0" tIns="0" rIns="0" bIns="0" anchor="t">
            <a:spAutoFit/>
          </a:bodyPr>
          <a:lstStyle/>
          <a:p>
            <a:pPr algn="l"/>
            <a:r>
              <a:rPr sz="900" b="1">
                <a:solidFill>
                  <a:srgbClr val="D2E8DB"/>
                </a:solidFill>
                <a:latin typeface="Aptos"/>
              </a:rPr>
              <a:t>WHO WE ARE DESIGNING FOR</a:t>
            </a:r>
          </a:p>
        </p:txBody>
      </p:sp>
      <p:sp>
        <p:nvSpPr>
          <p:cNvPr id="4" name="TextBox 3"/>
          <p:cNvSpPr txBox="1"/>
          <p:nvPr/>
        </p:nvSpPr>
        <p:spPr>
          <a:xfrm>
            <a:off x="365760" y="768096"/>
            <a:ext cx="8321040" cy="329184"/>
          </a:xfrm>
          <a:prstGeom prst="rect">
            <a:avLst/>
          </a:prstGeom>
          <a:noFill/>
        </p:spPr>
        <p:txBody>
          <a:bodyPr wrap="none" lIns="0" tIns="0" rIns="0" bIns="0" anchor="t">
            <a:spAutoFit/>
          </a:bodyPr>
          <a:lstStyle/>
          <a:p>
            <a:pPr algn="l"/>
            <a:r>
              <a:rPr sz="2020" b="1">
                <a:solidFill>
                  <a:srgbClr val="131B26"/>
                </a:solidFill>
                <a:latin typeface="Aptos Display"/>
              </a:rPr>
              <a:t>Three user needs. One job: “What can I make now?”</a:t>
            </a:r>
          </a:p>
        </p:txBody>
      </p:sp>
      <p:sp>
        <p:nvSpPr>
          <p:cNvPr id="5" name="TextBox 4"/>
          <p:cNvSpPr txBox="1"/>
          <p:nvPr/>
        </p:nvSpPr>
        <p:spPr>
          <a:xfrm>
            <a:off x="365760" y="1179576"/>
            <a:ext cx="6400800" cy="164592"/>
          </a:xfrm>
          <a:prstGeom prst="rect">
            <a:avLst/>
          </a:prstGeom>
          <a:noFill/>
        </p:spPr>
        <p:txBody>
          <a:bodyPr wrap="none" lIns="0" tIns="0" rIns="0" bIns="0" anchor="t">
            <a:spAutoFit/>
          </a:bodyPr>
          <a:lstStyle/>
          <a:p>
            <a:pPr algn="l"/>
            <a:r>
              <a:rPr sz="980" b="0">
                <a:solidFill>
                  <a:srgbClr val="5F6C7C"/>
                </a:solidFill>
                <a:latin typeface="Aptos"/>
              </a:rPr>
              <a:t>These are starting personas to validate, not fixed market segments.</a:t>
            </a:r>
          </a:p>
        </p:txBody>
      </p:sp>
      <p:sp>
        <p:nvSpPr>
          <p:cNvPr id="6" name="Rounded Rectangle 5"/>
          <p:cNvSpPr/>
          <p:nvPr/>
        </p:nvSpPr>
        <p:spPr>
          <a:xfrm>
            <a:off x="365760" y="1536192"/>
            <a:ext cx="2688336" cy="1261872"/>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365760" cy="164592"/>
          </a:xfrm>
          <a:prstGeom prst="rect">
            <a:avLst/>
          </a:prstGeom>
          <a:noFill/>
        </p:spPr>
        <p:txBody>
          <a:bodyPr wrap="none" lIns="0" tIns="0" rIns="0" bIns="0" anchor="t">
            <a:spAutoFit/>
          </a:bodyPr>
          <a:lstStyle/>
          <a:p>
            <a:pPr algn="l"/>
            <a:r>
              <a:rPr sz="1250" b="1">
                <a:solidFill>
                  <a:srgbClr val="2E6F55"/>
                </a:solidFill>
                <a:latin typeface="Aptos Display"/>
              </a:rPr>
              <a:t>01</a:t>
            </a:r>
          </a:p>
        </p:txBody>
      </p:sp>
      <p:sp>
        <p:nvSpPr>
          <p:cNvPr id="8" name="TextBox 7"/>
          <p:cNvSpPr txBox="1"/>
          <p:nvPr/>
        </p:nvSpPr>
        <p:spPr>
          <a:xfrm>
            <a:off x="566928" y="2048256"/>
            <a:ext cx="2267712" cy="201168"/>
          </a:xfrm>
          <a:prstGeom prst="rect">
            <a:avLst/>
          </a:prstGeom>
          <a:noFill/>
        </p:spPr>
        <p:txBody>
          <a:bodyPr wrap="none" lIns="0" tIns="0" rIns="0" bIns="0" anchor="t">
            <a:spAutoFit/>
          </a:bodyPr>
          <a:lstStyle/>
          <a:p>
            <a:pPr algn="l"/>
            <a:r>
              <a:rPr sz="1180" b="1">
                <a:solidFill>
                  <a:srgbClr val="131B26"/>
                </a:solidFill>
                <a:latin typeface="Aptos"/>
              </a:rPr>
              <a:t>Time-constrained students</a:t>
            </a:r>
          </a:p>
        </p:txBody>
      </p:sp>
      <p:sp>
        <p:nvSpPr>
          <p:cNvPr id="9" name="TextBox 8"/>
          <p:cNvSpPr txBox="1"/>
          <p:nvPr/>
        </p:nvSpPr>
        <p:spPr>
          <a:xfrm>
            <a:off x="566928" y="2350008"/>
            <a:ext cx="2226572" cy="276999"/>
          </a:xfrm>
          <a:prstGeom prst="rect">
            <a:avLst/>
          </a:prstGeom>
          <a:noFill/>
        </p:spPr>
        <p:txBody>
          <a:bodyPr wrap="none" lIns="0" tIns="0" rIns="0" bIns="0" anchor="t">
            <a:spAutoFit/>
          </a:bodyPr>
          <a:lstStyle/>
          <a:p>
            <a:r>
              <a:rPr sz="900" b="0">
                <a:solidFill>
                  <a:srgbClr val="5F6C7C"/>
                </a:solidFill>
                <a:latin typeface="Aptos"/>
              </a:rPr>
              <a:t>Limited time and equipment. Need a feasible</a:t>
            </a:r>
            <a:br>
              <a:rPr lang="en-US" sz="900">
                <a:solidFill>
                  <a:srgbClr val="5F6C7C"/>
                </a:solidFill>
                <a:latin typeface="Aptos"/>
              </a:rPr>
            </a:br>
            <a:r>
              <a:rPr lang="en-US" sz="900">
                <a:solidFill>
                  <a:srgbClr val="5F6C7C"/>
                </a:solidFill>
                <a:latin typeface="Aptos"/>
              </a:rPr>
              <a:t> </a:t>
            </a:r>
            <a:r>
              <a:rPr sz="900" b="0">
                <a:solidFill>
                  <a:srgbClr val="5F6C7C"/>
                </a:solidFill>
                <a:latin typeface="Aptos"/>
              </a:rPr>
              <a:t>meal from groceries already at home.</a:t>
            </a:r>
          </a:p>
        </p:txBody>
      </p:sp>
      <p:sp>
        <p:nvSpPr>
          <p:cNvPr id="10" name="Rounded Rectangle 9"/>
          <p:cNvSpPr/>
          <p:nvPr/>
        </p:nvSpPr>
        <p:spPr>
          <a:xfrm>
            <a:off x="3227832" y="1536192"/>
            <a:ext cx="2688336" cy="1261872"/>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29000" y="1737360"/>
            <a:ext cx="365760" cy="164592"/>
          </a:xfrm>
          <a:prstGeom prst="rect">
            <a:avLst/>
          </a:prstGeom>
          <a:noFill/>
        </p:spPr>
        <p:txBody>
          <a:bodyPr wrap="none" lIns="0" tIns="0" rIns="0" bIns="0" anchor="t">
            <a:spAutoFit/>
          </a:bodyPr>
          <a:lstStyle/>
          <a:p>
            <a:pPr algn="l"/>
            <a:r>
              <a:rPr sz="1250" b="1">
                <a:solidFill>
                  <a:srgbClr val="2E6F55"/>
                </a:solidFill>
                <a:latin typeface="Aptos Display"/>
              </a:rPr>
              <a:t>02</a:t>
            </a:r>
          </a:p>
        </p:txBody>
      </p:sp>
      <p:sp>
        <p:nvSpPr>
          <p:cNvPr id="12" name="TextBox 11"/>
          <p:cNvSpPr txBox="1"/>
          <p:nvPr/>
        </p:nvSpPr>
        <p:spPr>
          <a:xfrm>
            <a:off x="3429000" y="2048256"/>
            <a:ext cx="2267712" cy="201168"/>
          </a:xfrm>
          <a:prstGeom prst="rect">
            <a:avLst/>
          </a:prstGeom>
          <a:noFill/>
        </p:spPr>
        <p:txBody>
          <a:bodyPr wrap="none" lIns="0" tIns="0" rIns="0" bIns="0" anchor="t">
            <a:spAutoFit/>
          </a:bodyPr>
          <a:lstStyle/>
          <a:p>
            <a:pPr algn="l"/>
            <a:r>
              <a:rPr sz="1180" b="1">
                <a:solidFill>
                  <a:srgbClr val="131B26"/>
                </a:solidFill>
                <a:latin typeface="Aptos"/>
              </a:rPr>
              <a:t>Beginner cooks</a:t>
            </a:r>
          </a:p>
        </p:txBody>
      </p:sp>
      <p:sp>
        <p:nvSpPr>
          <p:cNvPr id="13" name="TextBox 12"/>
          <p:cNvSpPr txBox="1"/>
          <p:nvPr/>
        </p:nvSpPr>
        <p:spPr>
          <a:xfrm>
            <a:off x="3429000" y="2350008"/>
            <a:ext cx="2519921" cy="276999"/>
          </a:xfrm>
          <a:prstGeom prst="rect">
            <a:avLst/>
          </a:prstGeom>
          <a:noFill/>
        </p:spPr>
        <p:txBody>
          <a:bodyPr wrap="none" lIns="0" tIns="0" rIns="0" bIns="0" anchor="t">
            <a:spAutoFit/>
          </a:bodyPr>
          <a:lstStyle/>
          <a:p>
            <a:r>
              <a:rPr sz="900" b="0">
                <a:solidFill>
                  <a:srgbClr val="5F6C7C"/>
                </a:solidFill>
                <a:latin typeface="Aptos"/>
              </a:rPr>
              <a:t>Need clear quantities, simple steps, and</a:t>
            </a:r>
            <a:br>
              <a:rPr lang="en-US" sz="900">
                <a:solidFill>
                  <a:srgbClr val="5F6C7C"/>
                </a:solidFill>
                <a:latin typeface="Aptos"/>
              </a:rPr>
            </a:br>
            <a:r>
              <a:rPr lang="en-US" sz="900">
                <a:solidFill>
                  <a:srgbClr val="5F6C7C"/>
                </a:solidFill>
                <a:latin typeface="Aptos"/>
              </a:rPr>
              <a:t> </a:t>
            </a:r>
            <a:r>
              <a:rPr sz="900" b="0">
                <a:solidFill>
                  <a:srgbClr val="5F6C7C"/>
                </a:solidFill>
                <a:latin typeface="Aptos"/>
              </a:rPr>
              <a:t>sensible substitutions when something is missing.</a:t>
            </a:r>
          </a:p>
        </p:txBody>
      </p:sp>
      <p:sp>
        <p:nvSpPr>
          <p:cNvPr id="14" name="Rounded Rectangle 13"/>
          <p:cNvSpPr/>
          <p:nvPr/>
        </p:nvSpPr>
        <p:spPr>
          <a:xfrm>
            <a:off x="6089904" y="1536192"/>
            <a:ext cx="2688336" cy="1261872"/>
          </a:xfrm>
          <a:prstGeom prst="roundRect">
            <a:avLst/>
          </a:prstGeom>
          <a:solidFill>
            <a:srgbClr val="F5F7F9"/>
          </a:solidFill>
          <a:ln w="1016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91072" y="1737360"/>
            <a:ext cx="365760" cy="164592"/>
          </a:xfrm>
          <a:prstGeom prst="rect">
            <a:avLst/>
          </a:prstGeom>
          <a:noFill/>
        </p:spPr>
        <p:txBody>
          <a:bodyPr wrap="none" lIns="0" tIns="0" rIns="0" bIns="0" anchor="t">
            <a:spAutoFit/>
          </a:bodyPr>
          <a:lstStyle/>
          <a:p>
            <a:pPr algn="l"/>
            <a:r>
              <a:rPr sz="1250" b="1">
                <a:solidFill>
                  <a:srgbClr val="2E6F55"/>
                </a:solidFill>
                <a:latin typeface="Aptos Display"/>
              </a:rPr>
              <a:t>03</a:t>
            </a:r>
          </a:p>
        </p:txBody>
      </p:sp>
      <p:sp>
        <p:nvSpPr>
          <p:cNvPr id="16" name="TextBox 15"/>
          <p:cNvSpPr txBox="1"/>
          <p:nvPr/>
        </p:nvSpPr>
        <p:spPr>
          <a:xfrm>
            <a:off x="6291072" y="2048256"/>
            <a:ext cx="2267712" cy="201168"/>
          </a:xfrm>
          <a:prstGeom prst="rect">
            <a:avLst/>
          </a:prstGeom>
          <a:noFill/>
        </p:spPr>
        <p:txBody>
          <a:bodyPr wrap="none" lIns="0" tIns="0" rIns="0" bIns="0" anchor="t">
            <a:spAutoFit/>
          </a:bodyPr>
          <a:lstStyle/>
          <a:p>
            <a:pPr algn="l"/>
            <a:r>
              <a:rPr sz="1180" b="1">
                <a:solidFill>
                  <a:srgbClr val="131B26"/>
                </a:solidFill>
                <a:latin typeface="Aptos"/>
              </a:rPr>
              <a:t>Diet-aware cooks</a:t>
            </a:r>
          </a:p>
        </p:txBody>
      </p:sp>
      <p:sp>
        <p:nvSpPr>
          <p:cNvPr id="17" name="TextBox 16"/>
          <p:cNvSpPr txBox="1"/>
          <p:nvPr/>
        </p:nvSpPr>
        <p:spPr>
          <a:xfrm>
            <a:off x="6291072" y="2350008"/>
            <a:ext cx="2087110" cy="276999"/>
          </a:xfrm>
          <a:prstGeom prst="rect">
            <a:avLst/>
          </a:prstGeom>
          <a:noFill/>
        </p:spPr>
        <p:txBody>
          <a:bodyPr wrap="none" lIns="0" tIns="0" rIns="0" bIns="0" anchor="t">
            <a:spAutoFit/>
          </a:bodyPr>
          <a:lstStyle/>
          <a:p>
            <a:r>
              <a:rPr sz="900" b="0">
                <a:solidFill>
                  <a:srgbClr val="5F6C7C"/>
                </a:solidFill>
                <a:latin typeface="Aptos"/>
              </a:rPr>
              <a:t>Need preferences and dietary restrictions </a:t>
            </a:r>
            <a:br>
              <a:rPr lang="en-US" sz="900">
                <a:solidFill>
                  <a:srgbClr val="5F6C7C"/>
                </a:solidFill>
                <a:latin typeface="Aptos"/>
              </a:rPr>
            </a:br>
            <a:r>
              <a:rPr sz="900" b="0">
                <a:solidFill>
                  <a:srgbClr val="5F6C7C"/>
                </a:solidFill>
                <a:latin typeface="Aptos"/>
              </a:rPr>
              <a:t>preserved across the full conversation.</a:t>
            </a:r>
          </a:p>
        </p:txBody>
      </p:sp>
      <p:sp>
        <p:nvSpPr>
          <p:cNvPr id="18" name="TextBox 17"/>
          <p:cNvSpPr txBox="1"/>
          <p:nvPr/>
        </p:nvSpPr>
        <p:spPr>
          <a:xfrm>
            <a:off x="365760" y="3026664"/>
            <a:ext cx="1508760" cy="164592"/>
          </a:xfrm>
          <a:prstGeom prst="rect">
            <a:avLst/>
          </a:prstGeom>
          <a:noFill/>
        </p:spPr>
        <p:txBody>
          <a:bodyPr wrap="none" lIns="0" tIns="0" rIns="0" bIns="0" anchor="t">
            <a:spAutoFit/>
          </a:bodyPr>
          <a:lstStyle/>
          <a:p>
            <a:pPr algn="l"/>
            <a:r>
              <a:rPr sz="1050" b="1">
                <a:solidFill>
                  <a:srgbClr val="225440"/>
                </a:solidFill>
                <a:latin typeface="Aptos"/>
              </a:rPr>
              <a:t>Core user journey</a:t>
            </a:r>
          </a:p>
        </p:txBody>
      </p:sp>
      <p:cxnSp>
        <p:nvCxnSpPr>
          <p:cNvPr id="19" name="Connector 18"/>
          <p:cNvCxnSpPr/>
          <p:nvPr/>
        </p:nvCxnSpPr>
        <p:spPr>
          <a:xfrm>
            <a:off x="1143000" y="3785615"/>
            <a:ext cx="6903720" cy="0"/>
          </a:xfrm>
          <a:prstGeom prst="line">
            <a:avLst/>
          </a:prstGeom>
          <a:ln w="21590">
            <a:solidFill>
              <a:srgbClr val="CADCD2"/>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572768" y="3575304"/>
            <a:ext cx="420624" cy="420624"/>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ptos"/>
              </a:rPr>
              <a:t>1</a:t>
            </a:r>
          </a:p>
        </p:txBody>
      </p:sp>
      <p:sp>
        <p:nvSpPr>
          <p:cNvPr id="21" name="TextBox 20"/>
          <p:cNvSpPr txBox="1"/>
          <p:nvPr/>
        </p:nvSpPr>
        <p:spPr>
          <a:xfrm>
            <a:off x="1280160" y="4069080"/>
            <a:ext cx="1005840" cy="164592"/>
          </a:xfrm>
          <a:prstGeom prst="rect">
            <a:avLst/>
          </a:prstGeom>
          <a:noFill/>
        </p:spPr>
        <p:txBody>
          <a:bodyPr wrap="none" lIns="0" tIns="0" rIns="0" bIns="0" anchor="t">
            <a:spAutoFit/>
          </a:bodyPr>
          <a:lstStyle/>
          <a:p>
            <a:pPr algn="ctr"/>
            <a:r>
              <a:rPr sz="1080" b="1">
                <a:solidFill>
                  <a:srgbClr val="131B26"/>
                </a:solidFill>
                <a:latin typeface="Aptos"/>
              </a:rPr>
              <a:t>Scan</a:t>
            </a:r>
          </a:p>
        </p:txBody>
      </p:sp>
      <p:sp>
        <p:nvSpPr>
          <p:cNvPr id="22" name="TextBox 21"/>
          <p:cNvSpPr txBox="1"/>
          <p:nvPr/>
        </p:nvSpPr>
        <p:spPr>
          <a:xfrm>
            <a:off x="941831" y="4315968"/>
            <a:ext cx="1682496" cy="301752"/>
          </a:xfrm>
          <a:prstGeom prst="rect">
            <a:avLst/>
          </a:prstGeom>
          <a:noFill/>
        </p:spPr>
        <p:txBody>
          <a:bodyPr wrap="none" lIns="0" tIns="0" rIns="0" bIns="0" anchor="t">
            <a:spAutoFit/>
          </a:bodyPr>
          <a:lstStyle/>
          <a:p>
            <a:pPr algn="ctr"/>
            <a:r>
              <a:rPr sz="844" b="0">
                <a:solidFill>
                  <a:srgbClr val="5F6C7C"/>
                </a:solidFill>
                <a:latin typeface="Aptos"/>
              </a:rPr>
              <a:t>Upload receipt
and review extraction.</a:t>
            </a:r>
          </a:p>
        </p:txBody>
      </p:sp>
      <p:sp>
        <p:nvSpPr>
          <p:cNvPr id="23" name="Oval 22"/>
          <p:cNvSpPr/>
          <p:nvPr/>
        </p:nvSpPr>
        <p:spPr>
          <a:xfrm>
            <a:off x="4361688" y="3575304"/>
            <a:ext cx="420624" cy="420624"/>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ptos"/>
              </a:rPr>
              <a:t>2</a:t>
            </a:r>
          </a:p>
        </p:txBody>
      </p:sp>
      <p:sp>
        <p:nvSpPr>
          <p:cNvPr id="24" name="TextBox 23"/>
          <p:cNvSpPr txBox="1"/>
          <p:nvPr/>
        </p:nvSpPr>
        <p:spPr>
          <a:xfrm>
            <a:off x="4069080" y="4069080"/>
            <a:ext cx="1005840" cy="164592"/>
          </a:xfrm>
          <a:prstGeom prst="rect">
            <a:avLst/>
          </a:prstGeom>
          <a:noFill/>
        </p:spPr>
        <p:txBody>
          <a:bodyPr wrap="none" lIns="0" tIns="0" rIns="0" bIns="0" anchor="t">
            <a:spAutoFit/>
          </a:bodyPr>
          <a:lstStyle/>
          <a:p>
            <a:pPr algn="ctr"/>
            <a:r>
              <a:rPr sz="1080" b="1">
                <a:solidFill>
                  <a:srgbClr val="131B26"/>
                </a:solidFill>
                <a:latin typeface="Aptos"/>
              </a:rPr>
              <a:t>Confirm</a:t>
            </a:r>
          </a:p>
        </p:txBody>
      </p:sp>
      <p:sp>
        <p:nvSpPr>
          <p:cNvPr id="25" name="TextBox 24"/>
          <p:cNvSpPr txBox="1"/>
          <p:nvPr/>
        </p:nvSpPr>
        <p:spPr>
          <a:xfrm>
            <a:off x="3730752" y="4315968"/>
            <a:ext cx="1682496" cy="301752"/>
          </a:xfrm>
          <a:prstGeom prst="rect">
            <a:avLst/>
          </a:prstGeom>
          <a:noFill/>
        </p:spPr>
        <p:txBody>
          <a:bodyPr wrap="none" lIns="0" tIns="0" rIns="0" bIns="0" anchor="t">
            <a:spAutoFit/>
          </a:bodyPr>
          <a:lstStyle/>
          <a:p>
            <a:pPr algn="ctr"/>
            <a:r>
              <a:rPr sz="844" b="0">
                <a:solidFill>
                  <a:srgbClr val="5F6C7C"/>
                </a:solidFill>
                <a:latin typeface="Aptos"/>
              </a:rPr>
              <a:t>Fix names, units,
and what remains.</a:t>
            </a:r>
          </a:p>
        </p:txBody>
      </p:sp>
      <p:sp>
        <p:nvSpPr>
          <p:cNvPr id="26" name="Oval 25"/>
          <p:cNvSpPr/>
          <p:nvPr/>
        </p:nvSpPr>
        <p:spPr>
          <a:xfrm>
            <a:off x="7150608" y="3575304"/>
            <a:ext cx="420624" cy="420624"/>
          </a:xfrm>
          <a:prstGeom prst="ellipse">
            <a:avLst/>
          </a:prstGeom>
          <a:solidFill>
            <a:srgbClr val="2E6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Aptos"/>
              </a:rPr>
              <a:t>3</a:t>
            </a:r>
          </a:p>
        </p:txBody>
      </p:sp>
      <p:sp>
        <p:nvSpPr>
          <p:cNvPr id="27" name="TextBox 26"/>
          <p:cNvSpPr txBox="1"/>
          <p:nvPr/>
        </p:nvSpPr>
        <p:spPr>
          <a:xfrm>
            <a:off x="6858000" y="4069080"/>
            <a:ext cx="1005840" cy="164592"/>
          </a:xfrm>
          <a:prstGeom prst="rect">
            <a:avLst/>
          </a:prstGeom>
          <a:noFill/>
        </p:spPr>
        <p:txBody>
          <a:bodyPr wrap="none" lIns="0" tIns="0" rIns="0" bIns="0" anchor="t">
            <a:spAutoFit/>
          </a:bodyPr>
          <a:lstStyle/>
          <a:p>
            <a:pPr algn="ctr"/>
            <a:r>
              <a:rPr sz="1080" b="1">
                <a:solidFill>
                  <a:srgbClr val="131B26"/>
                </a:solidFill>
                <a:latin typeface="Aptos"/>
              </a:rPr>
              <a:t>Cook</a:t>
            </a:r>
          </a:p>
        </p:txBody>
      </p:sp>
      <p:sp>
        <p:nvSpPr>
          <p:cNvPr id="28" name="TextBox 27"/>
          <p:cNvSpPr txBox="1"/>
          <p:nvPr/>
        </p:nvSpPr>
        <p:spPr>
          <a:xfrm>
            <a:off x="6707696" y="4315968"/>
            <a:ext cx="1306448" cy="246221"/>
          </a:xfrm>
          <a:prstGeom prst="rect">
            <a:avLst/>
          </a:prstGeom>
          <a:noFill/>
        </p:spPr>
        <p:txBody>
          <a:bodyPr wrap="none" lIns="0" tIns="0" rIns="0" bIns="0" anchor="t">
            <a:spAutoFit/>
          </a:bodyPr>
          <a:lstStyle/>
          <a:p>
            <a:pPr algn="ctr"/>
            <a:r>
              <a:rPr sz="800" b="0">
                <a:solidFill>
                  <a:srgbClr val="5F6C7C"/>
                </a:solidFill>
                <a:latin typeface="Aptos"/>
              </a:rPr>
              <a:t>Ask naturally; get a feasible
recipe + </a:t>
            </a:r>
            <a:r>
              <a:rPr lang="en-US" sz="800">
                <a:solidFill>
                  <a:srgbClr val="5F6C7C"/>
                </a:solidFill>
                <a:latin typeface="Aptos"/>
              </a:rPr>
              <a:t>report missing</a:t>
            </a:r>
            <a:r>
              <a:rPr sz="800" b="0">
                <a:solidFill>
                  <a:srgbClr val="5F6C7C"/>
                </a:solidFill>
                <a:latin typeface="Aptos"/>
              </a:rPr>
              <a:t> items.</a:t>
            </a:r>
          </a:p>
        </p:txBody>
      </p:sp>
      <p:sp>
        <p:nvSpPr>
          <p:cNvPr id="31" name="TextBox 30"/>
          <p:cNvSpPr txBox="1"/>
          <p:nvPr/>
        </p:nvSpPr>
        <p:spPr>
          <a:xfrm>
            <a:off x="365760" y="5010912"/>
            <a:ext cx="1920240" cy="82296"/>
          </a:xfrm>
          <a:prstGeom prst="rect">
            <a:avLst/>
          </a:prstGeom>
          <a:noFill/>
        </p:spPr>
        <p:txBody>
          <a:bodyPr wrap="none" lIns="0" tIns="0" rIns="0" bIns="0" anchor="t">
            <a:spAutoFit/>
          </a:bodyPr>
          <a:lstStyle/>
          <a:p>
            <a:pPr algn="l"/>
            <a:r>
              <a:rPr sz="720" b="0">
                <a:solidFill>
                  <a:srgbClr val="5F6C7C"/>
                </a:solidFill>
                <a:latin typeface="Aptos"/>
              </a:rPr>
              <a:t>ChefNova  ·  Checkpoint 1</a:t>
            </a:r>
          </a:p>
        </p:txBody>
      </p:sp>
      <p:sp>
        <p:nvSpPr>
          <p:cNvPr id="32" name="TextBox 31"/>
          <p:cNvSpPr txBox="1"/>
          <p:nvPr/>
        </p:nvSpPr>
        <p:spPr>
          <a:xfrm>
            <a:off x="8686800" y="5001768"/>
            <a:ext cx="109728" cy="82296"/>
          </a:xfrm>
          <a:prstGeom prst="rect">
            <a:avLst/>
          </a:prstGeom>
          <a:noFill/>
        </p:spPr>
        <p:txBody>
          <a:bodyPr wrap="none" lIns="0" tIns="0" rIns="0" bIns="0" anchor="t">
            <a:spAutoFit/>
          </a:bodyPr>
          <a:lstStyle/>
          <a:p>
            <a:pPr algn="r"/>
            <a:r>
              <a:rPr sz="720" b="0">
                <a:solidFill>
                  <a:srgbClr val="5F6C7C"/>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COMPETITIVE LANDSCAPE</a:t>
            </a:r>
            <a:endParaRPr lang="en-US" sz="1100"/>
          </a:p>
        </p:txBody>
      </p:sp>
      <p:sp>
        <p:nvSpPr>
          <p:cNvPr id="5" name="Text 3"/>
          <p:cNvSpPr txBox="1"/>
          <p:nvPr/>
        </p:nvSpPr>
        <p:spPr>
          <a:xfrm>
            <a:off x="365760" y="658368"/>
            <a:ext cx="8412480" cy="502920"/>
          </a:xfrm>
          <a:prstGeom prst="rect">
            <a:avLst/>
          </a:prstGeom>
          <a:noFill/>
          <a:ln/>
        </p:spPr>
        <p:txBody>
          <a:bodyPr wrap="square" lIns="0" tIns="0" rIns="0" bIns="0" rtlCol="0" anchor="ctr"/>
          <a:lstStyle/>
          <a:p>
            <a:pPr marL="0" indent="0">
              <a:buNone/>
            </a:pPr>
            <a:r>
              <a:rPr lang="en-US" sz="2600" b="1">
                <a:solidFill>
                  <a:srgbClr val="0F1923"/>
                </a:solidFill>
                <a:latin typeface="Calibri" pitchFamily="34" charset="0"/>
                <a:ea typeface="Calibri" pitchFamily="34" charset="-122"/>
                <a:cs typeface="Calibri" pitchFamily="34" charset="-120"/>
              </a:rPr>
              <a:t>Existing Tools &amp; the Gap We Want to Explore</a:t>
            </a:r>
            <a:endParaRPr lang="en-US" sz="2600"/>
          </a:p>
        </p:txBody>
      </p:sp>
      <p:sp>
        <p:nvSpPr>
          <p:cNvPr id="6" name="Shape 4"/>
          <p:cNvSpPr/>
          <p:nvPr/>
        </p:nvSpPr>
        <p:spPr>
          <a:xfrm>
            <a:off x="365760" y="1371600"/>
            <a:ext cx="2606040" cy="1463040"/>
          </a:xfrm>
          <a:prstGeom prst="roundRect">
            <a:avLst>
              <a:gd name="adj" fmla="val 5000"/>
            </a:avLst>
          </a:prstGeom>
          <a:solidFill>
            <a:srgbClr val="F2F4F7"/>
          </a:solidFill>
          <a:ln w="12700">
            <a:solidFill>
              <a:srgbClr val="E2E6EA"/>
            </a:solidFill>
            <a:prstDash val="solid"/>
          </a:ln>
        </p:spPr>
        <p:txBody>
          <a:bodyPr/>
          <a:lstStyle/>
          <a:p>
            <a:endParaRPr lang="en-US"/>
          </a:p>
        </p:txBody>
      </p:sp>
      <p:sp>
        <p:nvSpPr>
          <p:cNvPr id="7" name="Text 5"/>
          <p:cNvSpPr txBox="1"/>
          <p:nvPr/>
        </p:nvSpPr>
        <p:spPr>
          <a:xfrm>
            <a:off x="548640" y="1481328"/>
            <a:ext cx="2240280" cy="274320"/>
          </a:xfrm>
          <a:prstGeom prst="rect">
            <a:avLst/>
          </a:prstGeom>
          <a:noFill/>
          <a:ln/>
        </p:spPr>
        <p:txBody>
          <a:bodyPr wrap="square" lIns="0" tIns="0" rIns="0" bIns="0" rtlCol="0" anchor="ctr"/>
          <a:lstStyle/>
          <a:p>
            <a:pPr marL="0" indent="0">
              <a:buNone/>
            </a:pPr>
            <a:r>
              <a:rPr lang="en-US" sz="1100" b="1">
                <a:solidFill>
                  <a:srgbClr val="0F1923"/>
                </a:solidFill>
                <a:latin typeface="Calibri" pitchFamily="34" charset="0"/>
                <a:ea typeface="Calibri" pitchFamily="34" charset="-122"/>
                <a:cs typeface="Calibri" pitchFamily="34" charset="-120"/>
              </a:rPr>
              <a:t>Recipe Discovery</a:t>
            </a:r>
            <a:endParaRPr lang="en-US" sz="1100"/>
          </a:p>
        </p:txBody>
      </p:sp>
      <p:sp>
        <p:nvSpPr>
          <p:cNvPr id="8" name="Text 6"/>
          <p:cNvSpPr txBox="1"/>
          <p:nvPr/>
        </p:nvSpPr>
        <p:spPr>
          <a:xfrm>
            <a:off x="548640" y="1810512"/>
            <a:ext cx="2240280" cy="914400"/>
          </a:xfrm>
          <a:prstGeom prst="rect">
            <a:avLst/>
          </a:prstGeom>
          <a:noFill/>
          <a:ln/>
        </p:spPr>
        <p:txBody>
          <a:bodyPr wrap="square" lIns="0" tIns="0" rIns="0" bIns="0" rtlCol="0" anchor="ctr"/>
          <a:lstStyle/>
          <a:p>
            <a:pPr marL="0" indent="0">
              <a:buNone/>
            </a:pPr>
            <a:r>
              <a:rPr lang="en-US" sz="950">
                <a:solidFill>
                  <a:srgbClr val="5A6675"/>
                </a:solidFill>
                <a:latin typeface="Calibri" pitchFamily="34" charset="0"/>
                <a:ea typeface="Calibri" pitchFamily="34" charset="-122"/>
                <a:cs typeface="Calibri" pitchFamily="34" charset="-120"/>
              </a:rPr>
              <a:t>Finds meals by ingredients or preferences — but doesn't track what you actually still have.</a:t>
            </a:r>
            <a:endParaRPr lang="en-US" sz="950"/>
          </a:p>
        </p:txBody>
      </p:sp>
      <p:sp>
        <p:nvSpPr>
          <p:cNvPr id="9" name="Shape 7"/>
          <p:cNvSpPr/>
          <p:nvPr/>
        </p:nvSpPr>
        <p:spPr>
          <a:xfrm>
            <a:off x="3200400" y="1371600"/>
            <a:ext cx="2606040" cy="1463040"/>
          </a:xfrm>
          <a:prstGeom prst="roundRect">
            <a:avLst>
              <a:gd name="adj" fmla="val 5000"/>
            </a:avLst>
          </a:prstGeom>
          <a:solidFill>
            <a:srgbClr val="F2F4F7"/>
          </a:solidFill>
          <a:ln w="12700">
            <a:solidFill>
              <a:srgbClr val="E2E6EA"/>
            </a:solidFill>
            <a:prstDash val="solid"/>
          </a:ln>
        </p:spPr>
        <p:txBody>
          <a:bodyPr/>
          <a:lstStyle/>
          <a:p>
            <a:endParaRPr lang="en-US"/>
          </a:p>
        </p:txBody>
      </p:sp>
      <p:sp>
        <p:nvSpPr>
          <p:cNvPr id="10" name="Text 8"/>
          <p:cNvSpPr txBox="1"/>
          <p:nvPr/>
        </p:nvSpPr>
        <p:spPr>
          <a:xfrm>
            <a:off x="3383280" y="1481328"/>
            <a:ext cx="2240280" cy="274320"/>
          </a:xfrm>
          <a:prstGeom prst="rect">
            <a:avLst/>
          </a:prstGeom>
          <a:noFill/>
          <a:ln/>
        </p:spPr>
        <p:txBody>
          <a:bodyPr wrap="square" lIns="0" tIns="0" rIns="0" bIns="0" rtlCol="0" anchor="ctr"/>
          <a:lstStyle/>
          <a:p>
            <a:pPr marL="0" indent="0">
              <a:buNone/>
            </a:pPr>
            <a:r>
              <a:rPr lang="en-US" sz="1100" b="1">
                <a:solidFill>
                  <a:srgbClr val="0F1923"/>
                </a:solidFill>
                <a:latin typeface="Calibri" pitchFamily="34" charset="0"/>
                <a:ea typeface="Calibri" pitchFamily="34" charset="-122"/>
                <a:cs typeface="Calibri" pitchFamily="34" charset="-120"/>
              </a:rPr>
              <a:t>Conversational AI</a:t>
            </a:r>
            <a:endParaRPr lang="en-US" sz="1100"/>
          </a:p>
        </p:txBody>
      </p:sp>
      <p:sp>
        <p:nvSpPr>
          <p:cNvPr id="11" name="Text 9"/>
          <p:cNvSpPr txBox="1"/>
          <p:nvPr/>
        </p:nvSpPr>
        <p:spPr>
          <a:xfrm>
            <a:off x="3383280" y="1810512"/>
            <a:ext cx="2240280" cy="914400"/>
          </a:xfrm>
          <a:prstGeom prst="rect">
            <a:avLst/>
          </a:prstGeom>
          <a:noFill/>
          <a:ln/>
        </p:spPr>
        <p:txBody>
          <a:bodyPr wrap="square" lIns="0" tIns="0" rIns="0" bIns="0" rtlCol="0" anchor="ctr"/>
          <a:lstStyle/>
          <a:p>
            <a:pPr marL="0" indent="0">
              <a:buNone/>
            </a:pPr>
            <a:r>
              <a:rPr lang="en-US" sz="950">
                <a:solidFill>
                  <a:srgbClr val="5A6675"/>
                </a:solidFill>
                <a:latin typeface="Calibri" pitchFamily="34" charset="0"/>
                <a:ea typeface="Calibri" pitchFamily="34" charset="-122"/>
                <a:cs typeface="Calibri" pitchFamily="34" charset="-120"/>
              </a:rPr>
              <a:t>Interprets natural language and revises suggestions — but lacks grounded inventory.</a:t>
            </a:r>
            <a:endParaRPr lang="en-US" sz="950"/>
          </a:p>
        </p:txBody>
      </p:sp>
      <p:sp>
        <p:nvSpPr>
          <p:cNvPr id="12" name="Shape 10"/>
          <p:cNvSpPr/>
          <p:nvPr/>
        </p:nvSpPr>
        <p:spPr>
          <a:xfrm>
            <a:off x="6035040" y="1371600"/>
            <a:ext cx="2606040" cy="1463040"/>
          </a:xfrm>
          <a:prstGeom prst="roundRect">
            <a:avLst>
              <a:gd name="adj" fmla="val 5000"/>
            </a:avLst>
          </a:prstGeom>
          <a:solidFill>
            <a:srgbClr val="F2F4F7"/>
          </a:solidFill>
          <a:ln w="12700">
            <a:solidFill>
              <a:srgbClr val="E2E6EA"/>
            </a:solidFill>
            <a:prstDash val="solid"/>
          </a:ln>
        </p:spPr>
        <p:txBody>
          <a:bodyPr/>
          <a:lstStyle/>
          <a:p>
            <a:endParaRPr lang="en-US"/>
          </a:p>
        </p:txBody>
      </p:sp>
      <p:sp>
        <p:nvSpPr>
          <p:cNvPr id="13" name="Text 11"/>
          <p:cNvSpPr txBox="1"/>
          <p:nvPr/>
        </p:nvSpPr>
        <p:spPr>
          <a:xfrm>
            <a:off x="6217920" y="1481328"/>
            <a:ext cx="2240280" cy="274320"/>
          </a:xfrm>
          <a:prstGeom prst="rect">
            <a:avLst/>
          </a:prstGeom>
          <a:noFill/>
          <a:ln/>
        </p:spPr>
        <p:txBody>
          <a:bodyPr wrap="square" lIns="0" tIns="0" rIns="0" bIns="0" rtlCol="0" anchor="ctr"/>
          <a:lstStyle/>
          <a:p>
            <a:pPr marL="0" indent="0">
              <a:buNone/>
            </a:pPr>
            <a:r>
              <a:rPr lang="en-US" sz="1100" b="1">
                <a:solidFill>
                  <a:srgbClr val="0F1923"/>
                </a:solidFill>
                <a:latin typeface="Calibri" pitchFamily="34" charset="0"/>
                <a:ea typeface="Calibri" pitchFamily="34" charset="-122"/>
                <a:cs typeface="Calibri" pitchFamily="34" charset="-120"/>
              </a:rPr>
              <a:t>Grocery Planners</a:t>
            </a:r>
            <a:endParaRPr lang="en-US" sz="1100"/>
          </a:p>
        </p:txBody>
      </p:sp>
      <p:sp>
        <p:nvSpPr>
          <p:cNvPr id="14" name="Text 12"/>
          <p:cNvSpPr txBox="1"/>
          <p:nvPr/>
        </p:nvSpPr>
        <p:spPr>
          <a:xfrm>
            <a:off x="6217920" y="1810512"/>
            <a:ext cx="2240280" cy="914400"/>
          </a:xfrm>
          <a:prstGeom prst="rect">
            <a:avLst/>
          </a:prstGeom>
          <a:noFill/>
          <a:ln/>
        </p:spPr>
        <p:txBody>
          <a:bodyPr wrap="square" lIns="0" tIns="0" rIns="0" bIns="0" rtlCol="0" anchor="ctr"/>
          <a:lstStyle/>
          <a:p>
            <a:pPr marL="0" indent="0">
              <a:buNone/>
            </a:pPr>
            <a:r>
              <a:rPr lang="en-US" sz="950">
                <a:solidFill>
                  <a:srgbClr val="5A6675"/>
                </a:solidFill>
                <a:latin typeface="Calibri" pitchFamily="34" charset="0"/>
                <a:ea typeface="Calibri" pitchFamily="34" charset="-122"/>
                <a:cs typeface="Calibri" pitchFamily="34" charset="-120"/>
              </a:rPr>
              <a:t>Supports planning purchases — but doesn't reconcile what's actually available today.</a:t>
            </a:r>
            <a:endParaRPr lang="en-US" sz="950"/>
          </a:p>
        </p:txBody>
      </p:sp>
      <p:sp>
        <p:nvSpPr>
          <p:cNvPr id="15" name="Shape 13"/>
          <p:cNvSpPr/>
          <p:nvPr/>
        </p:nvSpPr>
        <p:spPr>
          <a:xfrm>
            <a:off x="365760" y="2999232"/>
            <a:ext cx="8412480" cy="1920240"/>
          </a:xfrm>
          <a:prstGeom prst="roundRect">
            <a:avLst>
              <a:gd name="adj" fmla="val 4762"/>
            </a:avLst>
          </a:prstGeom>
          <a:solidFill>
            <a:srgbClr val="2D6A4F"/>
          </a:solidFill>
          <a:ln w="12700">
            <a:solidFill>
              <a:srgbClr val="2D6A4F"/>
            </a:solidFill>
            <a:prstDash val="solid"/>
          </a:ln>
        </p:spPr>
        <p:txBody>
          <a:bodyPr/>
          <a:lstStyle/>
          <a:p>
            <a:endParaRPr lang="en-US"/>
          </a:p>
        </p:txBody>
      </p:sp>
      <p:sp>
        <p:nvSpPr>
          <p:cNvPr id="16" name="Text 14"/>
          <p:cNvSpPr txBox="1"/>
          <p:nvPr/>
        </p:nvSpPr>
        <p:spPr>
          <a:xfrm>
            <a:off x="640080" y="3127248"/>
            <a:ext cx="7863840" cy="274320"/>
          </a:xfrm>
          <a:prstGeom prst="rect">
            <a:avLst/>
          </a:prstGeom>
          <a:noFill/>
          <a:ln/>
        </p:spPr>
        <p:txBody>
          <a:bodyPr wrap="square" lIns="0" tIns="0" rIns="0" bIns="0" rtlCol="0" anchor="ctr"/>
          <a:lstStyle/>
          <a:p>
            <a:pPr marL="0" indent="0">
              <a:buNone/>
            </a:pPr>
            <a:r>
              <a:rPr lang="en-US" sz="1200" b="1">
                <a:solidFill>
                  <a:srgbClr val="B7E4C7"/>
                </a:solidFill>
                <a:latin typeface="Calibri" pitchFamily="34" charset="0"/>
                <a:ea typeface="Calibri" pitchFamily="34" charset="-122"/>
                <a:cs typeface="Calibri" pitchFamily="34" charset="-120"/>
              </a:rPr>
              <a:t>Our Design Focus</a:t>
            </a:r>
            <a:endParaRPr lang="en-US" sz="1200"/>
          </a:p>
        </p:txBody>
      </p:sp>
      <p:sp>
        <p:nvSpPr>
          <p:cNvPr id="17" name="Text 15"/>
          <p:cNvSpPr txBox="1"/>
          <p:nvPr/>
        </p:nvSpPr>
        <p:spPr>
          <a:xfrm>
            <a:off x="640080" y="345643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Persistent, user-confirmed inventory — not assumed from purchase history.</a:t>
            </a:r>
            <a:endParaRPr lang="en-US" sz="950"/>
          </a:p>
        </p:txBody>
      </p:sp>
      <p:sp>
        <p:nvSpPr>
          <p:cNvPr id="18" name="Text 16"/>
          <p:cNvSpPr txBox="1"/>
          <p:nvPr/>
        </p:nvSpPr>
        <p:spPr>
          <a:xfrm>
            <a:off x="640080" y="377647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Conversational validation of uncertain or ambiguous ingredients.</a:t>
            </a:r>
            <a:endParaRPr lang="en-US" sz="950"/>
          </a:p>
        </p:txBody>
      </p:sp>
      <p:sp>
        <p:nvSpPr>
          <p:cNvPr id="19" name="Text 17"/>
          <p:cNvSpPr txBox="1"/>
          <p:nvPr/>
        </p:nvSpPr>
        <p:spPr>
          <a:xfrm>
            <a:off x="640080" y="409651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Smart adaptation: missing one ingredient should not eliminate a whole recipe.</a:t>
            </a:r>
            <a:endParaRPr lang="en-US" sz="950"/>
          </a:p>
        </p:txBody>
      </p:sp>
      <p:sp>
        <p:nvSpPr>
          <p:cNvPr id="20" name="Text 18"/>
          <p:cNvSpPr txBox="1"/>
          <p:nvPr/>
        </p:nvSpPr>
        <p:spPr>
          <a:xfrm>
            <a:off x="640080" y="4416552"/>
            <a:ext cx="7863840" cy="274320"/>
          </a:xfrm>
          <a:prstGeom prst="rect">
            <a:avLst/>
          </a:prstGeom>
          <a:noFill/>
          <a:ln/>
        </p:spPr>
        <p:txBody>
          <a:bodyPr wrap="square" lIns="0" tIns="0" rIns="0" bIns="0" rtlCol="0" anchor="ctr"/>
          <a:lstStyle/>
          <a:p>
            <a:pPr marL="0" indent="0">
              <a:buNone/>
            </a:pPr>
            <a:r>
              <a:rPr lang="en-US" sz="950">
                <a:solidFill>
                  <a:srgbClr val="FFFFFF"/>
                </a:solidFill>
                <a:latin typeface="Calibri" pitchFamily="34" charset="0"/>
                <a:ea typeface="Calibri" pitchFamily="34" charset="-122"/>
                <a:cs typeface="Calibri" pitchFamily="34" charset="-120"/>
              </a:rPr>
              <a:t>→  Graceful switching when a core ingredient is truly unavailable.</a:t>
            </a:r>
            <a:endParaRPr lang="en-US" sz="950"/>
          </a:p>
        </p:txBody>
      </p:sp>
      <p:sp>
        <p:nvSpPr>
          <p:cNvPr id="21" name="Text 19"/>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22" name="Text 20"/>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4</a:t>
            </a:r>
            <a:endParaRPr lang="en-US"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FROM RESEARCH TO DESIGN</a:t>
            </a:r>
            <a:endParaRPr lang="en-US" sz="1100"/>
          </a:p>
        </p:txBody>
      </p:sp>
      <p:sp>
        <p:nvSpPr>
          <p:cNvPr id="5" name="Text 3"/>
          <p:cNvSpPr txBox="1"/>
          <p:nvPr/>
        </p:nvSpPr>
        <p:spPr>
          <a:xfrm>
            <a:off x="365760" y="621792"/>
            <a:ext cx="8412480" cy="475488"/>
          </a:xfrm>
          <a:prstGeom prst="rect">
            <a:avLst/>
          </a:prstGeom>
          <a:noFill/>
          <a:ln/>
        </p:spPr>
        <p:txBody>
          <a:bodyPr wrap="square" lIns="0" tIns="0" rIns="0" bIns="0" rtlCol="0" anchor="ctr"/>
          <a:lstStyle/>
          <a:p>
            <a:pPr marL="0" indent="0">
              <a:buNone/>
            </a:pPr>
            <a:r>
              <a:rPr lang="en-US" sz="2600" b="1">
                <a:solidFill>
                  <a:srgbClr val="0F1923"/>
                </a:solidFill>
                <a:latin typeface="Calibri" pitchFamily="34" charset="0"/>
                <a:ea typeface="Calibri" pitchFamily="34" charset="-122"/>
                <a:cs typeface="Calibri" pitchFamily="34" charset="-120"/>
              </a:rPr>
              <a:t>Literature Synthesis → Design Principles</a:t>
            </a:r>
            <a:endParaRPr lang="en-US" sz="2600"/>
          </a:p>
        </p:txBody>
      </p:sp>
      <p:sp>
        <p:nvSpPr>
          <p:cNvPr id="6" name="Shape 4"/>
          <p:cNvSpPr/>
          <p:nvPr/>
        </p:nvSpPr>
        <p:spPr>
          <a:xfrm>
            <a:off x="365760" y="1207008"/>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7" name="Shape 5"/>
          <p:cNvSpPr/>
          <p:nvPr/>
        </p:nvSpPr>
        <p:spPr>
          <a:xfrm>
            <a:off x="530352" y="1335024"/>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8" name="Text 6"/>
          <p:cNvSpPr txBox="1"/>
          <p:nvPr/>
        </p:nvSpPr>
        <p:spPr>
          <a:xfrm>
            <a:off x="530352" y="1335024"/>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01</a:t>
            </a:r>
            <a:endParaRPr lang="en-US" sz="900"/>
          </a:p>
        </p:txBody>
      </p:sp>
      <p:sp>
        <p:nvSpPr>
          <p:cNvPr id="9" name="Text 7"/>
          <p:cNvSpPr txBox="1"/>
          <p:nvPr/>
        </p:nvSpPr>
        <p:spPr>
          <a:xfrm>
            <a:off x="1005840" y="1335024"/>
            <a:ext cx="3246120" cy="256032"/>
          </a:xfrm>
          <a:prstGeom prst="rect">
            <a:avLst/>
          </a:prstGeom>
          <a:noFill/>
          <a:ln/>
        </p:spPr>
        <p:txBody>
          <a:bodyPr wrap="square" lIns="0" tIns="0" rIns="0" bIns="0" rtlCol="0" anchor="ctr"/>
          <a:lstStyle/>
          <a:p>
            <a:r>
              <a:rPr lang="en-US" sz="1050" b="1">
                <a:solidFill>
                  <a:srgbClr val="0F1923"/>
                </a:solidFill>
                <a:ea typeface="+mn-lt"/>
                <a:cs typeface="+mn-lt"/>
              </a:rPr>
              <a:t>Grounded Retrieval</a:t>
            </a:r>
            <a:endParaRPr lang="en-US" b="1">
              <a:ea typeface="Calibri"/>
              <a:cs typeface="Calibri"/>
            </a:endParaRPr>
          </a:p>
        </p:txBody>
      </p:sp>
      <p:sp>
        <p:nvSpPr>
          <p:cNvPr id="10" name="Text 8"/>
          <p:cNvSpPr txBox="1"/>
          <p:nvPr/>
        </p:nvSpPr>
        <p:spPr>
          <a:xfrm>
            <a:off x="549244" y="1622305"/>
            <a:ext cx="3693874" cy="1025487"/>
          </a:xfrm>
          <a:prstGeom prst="rect">
            <a:avLst/>
          </a:prstGeom>
          <a:noFill/>
          <a:ln/>
        </p:spPr>
        <p:txBody>
          <a:bodyPr wrap="square" lIns="0" tIns="0" rIns="0" bIns="0" rtlCol="0" anchor="ctr"/>
          <a:lstStyle/>
          <a:p>
            <a:r>
              <a:rPr lang="en-US" sz="900" b="1">
                <a:solidFill>
                  <a:srgbClr val="5A6675"/>
                </a:solidFill>
                <a:ea typeface="+mn-lt"/>
                <a:cs typeface="+mn-lt"/>
              </a:rPr>
              <a:t>Reliable recommendations need external, verifiable knowledge — not LLM memory alone.</a:t>
            </a:r>
            <a:endParaRPr lang="en-US" b="1">
              <a:ea typeface="+mn-lt"/>
              <a:cs typeface="+mn-lt"/>
            </a:endParaRPr>
          </a:p>
          <a:p>
            <a:endParaRPr lang="en-US" sz="900" b="1">
              <a:solidFill>
                <a:srgbClr val="5A6675"/>
              </a:solidFill>
              <a:ea typeface="+mn-lt"/>
              <a:cs typeface="+mn-lt"/>
            </a:endParaRPr>
          </a:p>
          <a:p>
            <a:r>
              <a:rPr lang="en-US" sz="900" i="1">
                <a:solidFill>
                  <a:srgbClr val="5A6675"/>
                </a:solidFill>
                <a:ea typeface="+mn-lt"/>
                <a:cs typeface="+mn-lt"/>
              </a:rPr>
              <a:t>RAG · </a:t>
            </a:r>
            <a:r>
              <a:rPr lang="en-US" sz="900" i="1" err="1">
                <a:solidFill>
                  <a:srgbClr val="5A6675"/>
                </a:solidFill>
                <a:ea typeface="+mn-lt"/>
                <a:cs typeface="+mn-lt"/>
              </a:rPr>
              <a:t>ReAct</a:t>
            </a:r>
            <a:r>
              <a:rPr lang="en-US" sz="900" i="1">
                <a:solidFill>
                  <a:srgbClr val="5A6675"/>
                </a:solidFill>
                <a:ea typeface="+mn-lt"/>
                <a:cs typeface="+mn-lt"/>
              </a:rPr>
              <a:t> · </a:t>
            </a:r>
            <a:r>
              <a:rPr lang="en-US" sz="900" i="1" err="1">
                <a:solidFill>
                  <a:srgbClr val="5A6675"/>
                </a:solidFill>
                <a:ea typeface="+mn-lt"/>
                <a:cs typeface="+mn-lt"/>
              </a:rPr>
              <a:t>InteRecAgent</a:t>
            </a:r>
            <a:endParaRPr lang="en-US" err="1"/>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Recipe/API + inventory data first; LLM interprets and explains</a:t>
            </a:r>
            <a:endParaRPr lang="en-US"/>
          </a:p>
          <a:p>
            <a:pPr marL="0" indent="0">
              <a:buNone/>
            </a:pPr>
            <a:endParaRPr lang="en-US" sz="900">
              <a:solidFill>
                <a:srgbClr val="5A6675"/>
              </a:solidFill>
              <a:ea typeface="Calibri"/>
              <a:cs typeface="Calibri"/>
            </a:endParaRPr>
          </a:p>
        </p:txBody>
      </p:sp>
      <p:sp>
        <p:nvSpPr>
          <p:cNvPr id="14" name="Shape 12"/>
          <p:cNvSpPr/>
          <p:nvPr/>
        </p:nvSpPr>
        <p:spPr>
          <a:xfrm>
            <a:off x="4709160" y="1207008"/>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15" name="Shape 13"/>
          <p:cNvSpPr/>
          <p:nvPr/>
        </p:nvSpPr>
        <p:spPr>
          <a:xfrm>
            <a:off x="4873752" y="1335024"/>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16" name="Text 14"/>
          <p:cNvSpPr txBox="1"/>
          <p:nvPr/>
        </p:nvSpPr>
        <p:spPr>
          <a:xfrm>
            <a:off x="4873752" y="1335024"/>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02</a:t>
            </a:r>
            <a:endParaRPr lang="en-US" sz="900"/>
          </a:p>
        </p:txBody>
      </p:sp>
      <p:sp>
        <p:nvSpPr>
          <p:cNvPr id="17" name="Text 15"/>
          <p:cNvSpPr txBox="1"/>
          <p:nvPr/>
        </p:nvSpPr>
        <p:spPr>
          <a:xfrm>
            <a:off x="5349240" y="1335024"/>
            <a:ext cx="3246120" cy="256032"/>
          </a:xfrm>
          <a:prstGeom prst="rect">
            <a:avLst/>
          </a:prstGeom>
          <a:noFill/>
          <a:ln/>
        </p:spPr>
        <p:txBody>
          <a:bodyPr wrap="square" lIns="0" tIns="0" rIns="0" bIns="0" rtlCol="0" anchor="ctr"/>
          <a:lstStyle/>
          <a:p>
            <a:r>
              <a:rPr lang="en-US" sz="1050" b="1">
                <a:solidFill>
                  <a:srgbClr val="0F1923"/>
                </a:solidFill>
                <a:ea typeface="+mn-lt"/>
                <a:cs typeface="+mn-lt"/>
              </a:rPr>
              <a:t>Constraint-Aware Personalization</a:t>
            </a:r>
            <a:endParaRPr lang="en-US" b="1">
              <a:ea typeface="Calibri"/>
              <a:cs typeface="Calibri"/>
            </a:endParaRPr>
          </a:p>
        </p:txBody>
      </p:sp>
      <p:sp>
        <p:nvSpPr>
          <p:cNvPr id="18" name="Text 16"/>
          <p:cNvSpPr txBox="1"/>
          <p:nvPr/>
        </p:nvSpPr>
        <p:spPr>
          <a:xfrm>
            <a:off x="4873752" y="1636474"/>
            <a:ext cx="3712766" cy="997149"/>
          </a:xfrm>
          <a:prstGeom prst="rect">
            <a:avLst/>
          </a:prstGeom>
          <a:noFill/>
          <a:ln/>
        </p:spPr>
        <p:txBody>
          <a:bodyPr wrap="square" lIns="0" tIns="0" rIns="0" bIns="0" rtlCol="0" anchor="ctr"/>
          <a:lstStyle/>
          <a:p>
            <a:r>
              <a:rPr lang="en-US" sz="900" b="1">
                <a:solidFill>
                  <a:srgbClr val="5A6675"/>
                </a:solidFill>
                <a:ea typeface="+mn-lt"/>
                <a:cs typeface="+mn-lt"/>
              </a:rPr>
              <a:t>Diet, allergies, nutrition limits, and preferences must be explicitly represented and preserved.</a:t>
            </a:r>
            <a:endParaRPr lang="en-US"/>
          </a:p>
          <a:p>
            <a:endParaRPr lang="en-US" sz="900" b="1">
              <a:solidFill>
                <a:srgbClr val="5A6675"/>
              </a:solidFill>
              <a:ea typeface="+mn-lt"/>
              <a:cs typeface="+mn-lt"/>
            </a:endParaRPr>
          </a:p>
          <a:p>
            <a:r>
              <a:rPr lang="en-US" sz="900" i="1" err="1">
                <a:solidFill>
                  <a:srgbClr val="5A6675"/>
                </a:solidFill>
                <a:ea typeface="+mn-lt"/>
                <a:cs typeface="+mn-lt"/>
              </a:rPr>
              <a:t>pFoodReQ</a:t>
            </a:r>
            <a:r>
              <a:rPr lang="en-US" sz="900" i="1">
                <a:solidFill>
                  <a:srgbClr val="5A6675"/>
                </a:solidFill>
                <a:ea typeface="+mn-lt"/>
                <a:cs typeface="+mn-lt"/>
              </a:rPr>
              <a:t> · </a:t>
            </a:r>
            <a:r>
              <a:rPr lang="en-US" sz="900" i="1" err="1">
                <a:solidFill>
                  <a:srgbClr val="5A6675"/>
                </a:solidFill>
                <a:ea typeface="+mn-lt"/>
                <a:cs typeface="+mn-lt"/>
              </a:rPr>
              <a:t>ChatDiet</a:t>
            </a:r>
            <a:endParaRPr lang="en-US" err="1"/>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Hard constraints before recipe selection; soft preferences guide ranking</a:t>
            </a:r>
            <a:endParaRPr lang="en-US"/>
          </a:p>
          <a:p>
            <a:pPr marL="0" indent="0">
              <a:buNone/>
            </a:pPr>
            <a:endParaRPr lang="en-US" sz="900">
              <a:solidFill>
                <a:srgbClr val="5A6675"/>
              </a:solidFill>
              <a:ea typeface="Calibri"/>
              <a:cs typeface="Calibri"/>
            </a:endParaRPr>
          </a:p>
        </p:txBody>
      </p:sp>
      <p:sp>
        <p:nvSpPr>
          <p:cNvPr id="22" name="Shape 20"/>
          <p:cNvSpPr/>
          <p:nvPr/>
        </p:nvSpPr>
        <p:spPr>
          <a:xfrm>
            <a:off x="365760" y="2926080"/>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23" name="Shape 21"/>
          <p:cNvSpPr/>
          <p:nvPr/>
        </p:nvSpPr>
        <p:spPr>
          <a:xfrm>
            <a:off x="530352" y="3054096"/>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24" name="Text 22"/>
          <p:cNvSpPr txBox="1"/>
          <p:nvPr/>
        </p:nvSpPr>
        <p:spPr>
          <a:xfrm>
            <a:off x="530352" y="3054096"/>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03</a:t>
            </a:r>
            <a:endParaRPr lang="en-US" sz="900"/>
          </a:p>
        </p:txBody>
      </p:sp>
      <p:sp>
        <p:nvSpPr>
          <p:cNvPr id="25" name="Text 23"/>
          <p:cNvSpPr txBox="1"/>
          <p:nvPr/>
        </p:nvSpPr>
        <p:spPr>
          <a:xfrm>
            <a:off x="1005840" y="3054096"/>
            <a:ext cx="3246120" cy="256032"/>
          </a:xfrm>
          <a:prstGeom prst="rect">
            <a:avLst/>
          </a:prstGeom>
          <a:noFill/>
          <a:ln/>
        </p:spPr>
        <p:txBody>
          <a:bodyPr wrap="square" lIns="0" tIns="0" rIns="0" bIns="0" rtlCol="0" anchor="ctr"/>
          <a:lstStyle/>
          <a:p>
            <a:r>
              <a:rPr lang="en-US" sz="1050" b="1">
                <a:solidFill>
                  <a:srgbClr val="0F1923"/>
                </a:solidFill>
                <a:ea typeface="+mn-lt"/>
                <a:cs typeface="+mn-lt"/>
              </a:rPr>
              <a:t>Human-Verified Multimodal Input</a:t>
            </a:r>
            <a:endParaRPr lang="en-US" b="1">
              <a:ea typeface="Calibri"/>
              <a:cs typeface="Calibri"/>
            </a:endParaRPr>
          </a:p>
        </p:txBody>
      </p:sp>
      <p:sp>
        <p:nvSpPr>
          <p:cNvPr id="26" name="Text 24"/>
          <p:cNvSpPr txBox="1"/>
          <p:nvPr/>
        </p:nvSpPr>
        <p:spPr>
          <a:xfrm>
            <a:off x="539798" y="3341377"/>
            <a:ext cx="3698597" cy="1153012"/>
          </a:xfrm>
          <a:prstGeom prst="rect">
            <a:avLst/>
          </a:prstGeom>
          <a:noFill/>
          <a:ln/>
        </p:spPr>
        <p:txBody>
          <a:bodyPr wrap="square" lIns="0" tIns="0" rIns="0" bIns="0" rtlCol="0" anchor="ctr"/>
          <a:lstStyle/>
          <a:p>
            <a:r>
              <a:rPr lang="en-US" sz="900" b="1">
                <a:solidFill>
                  <a:srgbClr val="5A6675"/>
                </a:solidFill>
                <a:ea typeface="+mn-lt"/>
                <a:cs typeface="+mn-lt"/>
              </a:rPr>
              <a:t>Vision and document AI can extract structured information, but uncertain outputs still require user review.</a:t>
            </a:r>
            <a:endParaRPr lang="en-US"/>
          </a:p>
          <a:p>
            <a:endParaRPr lang="en-US" sz="900" b="1">
              <a:solidFill>
                <a:srgbClr val="5A6675"/>
              </a:solidFill>
              <a:ea typeface="+mn-lt"/>
              <a:cs typeface="+mn-lt"/>
            </a:endParaRPr>
          </a:p>
          <a:p>
            <a:r>
              <a:rPr lang="en-US" sz="900" i="1">
                <a:solidFill>
                  <a:srgbClr val="5A6675"/>
                </a:solidFill>
                <a:ea typeface="+mn-lt"/>
                <a:cs typeface="+mn-lt"/>
              </a:rPr>
              <a:t>LayoutLMv3 · Donut · </a:t>
            </a:r>
            <a:r>
              <a:rPr lang="en-US" sz="900" i="1" err="1">
                <a:solidFill>
                  <a:srgbClr val="5A6675"/>
                </a:solidFill>
                <a:ea typeface="+mn-lt"/>
                <a:cs typeface="+mn-lt"/>
              </a:rPr>
              <a:t>FoodLMM</a:t>
            </a:r>
            <a:endParaRPr lang="en-US" err="1"/>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AI extracts receipt items → user confirms inventory before recommendations</a:t>
            </a:r>
            <a:endParaRPr lang="en-US"/>
          </a:p>
          <a:p>
            <a:endParaRPr lang="en-US" sz="900">
              <a:solidFill>
                <a:srgbClr val="5A6675"/>
              </a:solidFill>
              <a:latin typeface="Calibri"/>
              <a:ea typeface="Calibri"/>
              <a:cs typeface="Calibri"/>
            </a:endParaRPr>
          </a:p>
        </p:txBody>
      </p:sp>
      <p:sp>
        <p:nvSpPr>
          <p:cNvPr id="30" name="Shape 28"/>
          <p:cNvSpPr/>
          <p:nvPr/>
        </p:nvSpPr>
        <p:spPr>
          <a:xfrm>
            <a:off x="4709160" y="2926080"/>
            <a:ext cx="4023360" cy="1572768"/>
          </a:xfrm>
          <a:prstGeom prst="roundRect">
            <a:avLst>
              <a:gd name="adj" fmla="val 4651"/>
            </a:avLst>
          </a:prstGeom>
          <a:solidFill>
            <a:srgbClr val="F2F4F7"/>
          </a:solidFill>
          <a:ln w="12700">
            <a:solidFill>
              <a:srgbClr val="E2E6EA"/>
            </a:solidFill>
            <a:prstDash val="solid"/>
          </a:ln>
        </p:spPr>
        <p:txBody>
          <a:bodyPr/>
          <a:lstStyle/>
          <a:p>
            <a:endParaRPr lang="en-US"/>
          </a:p>
        </p:txBody>
      </p:sp>
      <p:sp>
        <p:nvSpPr>
          <p:cNvPr id="31" name="Shape 29"/>
          <p:cNvSpPr/>
          <p:nvPr/>
        </p:nvSpPr>
        <p:spPr>
          <a:xfrm>
            <a:off x="4873752" y="3054096"/>
            <a:ext cx="384048" cy="256032"/>
          </a:xfrm>
          <a:prstGeom prst="roundRect">
            <a:avLst>
              <a:gd name="adj" fmla="val 17857"/>
            </a:avLst>
          </a:prstGeom>
          <a:solidFill>
            <a:srgbClr val="52B788"/>
          </a:solidFill>
          <a:ln w="12700">
            <a:solidFill>
              <a:srgbClr val="52B788"/>
            </a:solidFill>
            <a:prstDash val="solid"/>
          </a:ln>
        </p:spPr>
        <p:txBody>
          <a:bodyPr/>
          <a:lstStyle/>
          <a:p>
            <a:endParaRPr lang="en-US"/>
          </a:p>
        </p:txBody>
      </p:sp>
      <p:sp>
        <p:nvSpPr>
          <p:cNvPr id="32" name="Text 30"/>
          <p:cNvSpPr txBox="1"/>
          <p:nvPr/>
        </p:nvSpPr>
        <p:spPr>
          <a:xfrm>
            <a:off x="4873752" y="3054096"/>
            <a:ext cx="384048"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04</a:t>
            </a:r>
            <a:endParaRPr lang="en-US" sz="900"/>
          </a:p>
        </p:txBody>
      </p:sp>
      <p:sp>
        <p:nvSpPr>
          <p:cNvPr id="33" name="Text 31"/>
          <p:cNvSpPr txBox="1"/>
          <p:nvPr/>
        </p:nvSpPr>
        <p:spPr>
          <a:xfrm>
            <a:off x="5349240" y="3054096"/>
            <a:ext cx="3246120" cy="256032"/>
          </a:xfrm>
          <a:prstGeom prst="rect">
            <a:avLst/>
          </a:prstGeom>
          <a:noFill/>
          <a:ln/>
        </p:spPr>
        <p:txBody>
          <a:bodyPr wrap="square" lIns="0" tIns="0" rIns="0" bIns="0" rtlCol="0" anchor="ctr"/>
          <a:lstStyle/>
          <a:p>
            <a:r>
              <a:rPr lang="en-US" sz="1050" b="1">
                <a:solidFill>
                  <a:srgbClr val="0F1923"/>
                </a:solidFill>
                <a:ea typeface="+mn-lt"/>
                <a:cs typeface="+mn-lt"/>
              </a:rPr>
              <a:t>Controlled LLM Ranking</a:t>
            </a:r>
            <a:endParaRPr lang="en-US" b="1">
              <a:ea typeface="Calibri"/>
              <a:cs typeface="Calibri"/>
            </a:endParaRPr>
          </a:p>
        </p:txBody>
      </p:sp>
      <p:sp>
        <p:nvSpPr>
          <p:cNvPr id="34" name="Text 32"/>
          <p:cNvSpPr txBox="1"/>
          <p:nvPr/>
        </p:nvSpPr>
        <p:spPr>
          <a:xfrm>
            <a:off x="4873752" y="3355546"/>
            <a:ext cx="3708043" cy="1034934"/>
          </a:xfrm>
          <a:prstGeom prst="rect">
            <a:avLst/>
          </a:prstGeom>
          <a:noFill/>
          <a:ln/>
        </p:spPr>
        <p:txBody>
          <a:bodyPr wrap="square" lIns="0" tIns="0" rIns="0" bIns="0" rtlCol="0" anchor="ctr"/>
          <a:lstStyle/>
          <a:p>
            <a:r>
              <a:rPr lang="en-US" sz="900" b="1">
                <a:solidFill>
                  <a:srgbClr val="5A6675"/>
                </a:solidFill>
                <a:ea typeface="+mn-lt"/>
                <a:cs typeface="+mn-lt"/>
              </a:rPr>
              <a:t>LLMs can personalize ranking, but position bias, popularity bias, and hallucinations require guardrails.</a:t>
            </a:r>
            <a:endParaRPr lang="en-US"/>
          </a:p>
          <a:p>
            <a:endParaRPr lang="en-US" sz="900" b="1">
              <a:solidFill>
                <a:srgbClr val="5A6675"/>
              </a:solidFill>
              <a:ea typeface="+mn-lt"/>
              <a:cs typeface="+mn-lt"/>
            </a:endParaRPr>
          </a:p>
          <a:p>
            <a:r>
              <a:rPr lang="en-US" sz="900" i="1" err="1">
                <a:solidFill>
                  <a:srgbClr val="5A6675"/>
                </a:solidFill>
                <a:ea typeface="+mn-lt"/>
                <a:cs typeface="+mn-lt"/>
              </a:rPr>
              <a:t>LLMRank</a:t>
            </a:r>
            <a:r>
              <a:rPr lang="en-US" sz="900" i="1">
                <a:solidFill>
                  <a:srgbClr val="5A6675"/>
                </a:solidFill>
                <a:ea typeface="+mn-lt"/>
                <a:cs typeface="+mn-lt"/>
              </a:rPr>
              <a:t> · </a:t>
            </a:r>
            <a:r>
              <a:rPr lang="en-US" sz="900" i="1" err="1">
                <a:solidFill>
                  <a:srgbClr val="5A6675"/>
                </a:solidFill>
                <a:ea typeface="+mn-lt"/>
                <a:cs typeface="+mn-lt"/>
              </a:rPr>
              <a:t>InteRecAgent</a:t>
            </a:r>
            <a:endParaRPr lang="en-US">
              <a:ea typeface="Calibri" panose="020F0502020204030204"/>
              <a:cs typeface="Calibri" panose="020F0502020204030204"/>
            </a:endParaRPr>
          </a:p>
          <a:p>
            <a:endParaRPr lang="en-US" sz="900" i="1">
              <a:solidFill>
                <a:srgbClr val="5A6675"/>
              </a:solidFill>
              <a:ea typeface="+mn-lt"/>
              <a:cs typeface="+mn-lt"/>
            </a:endParaRPr>
          </a:p>
          <a:p>
            <a:r>
              <a:rPr lang="en-US" sz="900">
                <a:solidFill>
                  <a:srgbClr val="5A6675"/>
                </a:solidFill>
                <a:ea typeface="+mn-lt"/>
                <a:cs typeface="+mn-lt"/>
              </a:rPr>
              <a:t>→ </a:t>
            </a:r>
            <a:r>
              <a:rPr lang="en-US" sz="900" b="1">
                <a:solidFill>
                  <a:srgbClr val="5A6675"/>
                </a:solidFill>
                <a:ea typeface="+mn-lt"/>
                <a:cs typeface="+mn-lt"/>
              </a:rPr>
              <a:t>Filter → retrieve valid candidates → rank → validate → display</a:t>
            </a:r>
            <a:endParaRPr lang="en-US">
              <a:ea typeface="Calibri" panose="020F0502020204030204"/>
              <a:cs typeface="Calibri" panose="020F0502020204030204"/>
            </a:endParaRPr>
          </a:p>
          <a:p>
            <a:pPr marL="0" indent="0">
              <a:buNone/>
            </a:pPr>
            <a:endParaRPr lang="en-US" sz="900">
              <a:solidFill>
                <a:srgbClr val="5A6675"/>
              </a:solidFill>
              <a:latin typeface="Calibri"/>
              <a:ea typeface="Calibri"/>
              <a:cs typeface="Calibri"/>
            </a:endParaRPr>
          </a:p>
        </p:txBody>
      </p:sp>
      <p:sp>
        <p:nvSpPr>
          <p:cNvPr id="38" name="Shape 36"/>
          <p:cNvSpPr/>
          <p:nvPr/>
        </p:nvSpPr>
        <p:spPr>
          <a:xfrm>
            <a:off x="365760" y="4617720"/>
            <a:ext cx="8412480" cy="292608"/>
          </a:xfrm>
          <a:prstGeom prst="roundRect">
            <a:avLst>
              <a:gd name="adj" fmla="val 18750"/>
            </a:avLst>
          </a:prstGeom>
          <a:solidFill>
            <a:srgbClr val="B7E4C7">
              <a:alpha val="70000"/>
            </a:srgbClr>
          </a:solidFill>
          <a:ln w="12700">
            <a:solidFill>
              <a:srgbClr val="52B788"/>
            </a:solidFill>
            <a:prstDash val="solid"/>
          </a:ln>
        </p:spPr>
        <p:txBody>
          <a:bodyPr/>
          <a:lstStyle/>
          <a:p>
            <a:endParaRPr lang="en-US"/>
          </a:p>
        </p:txBody>
      </p:sp>
      <p:sp>
        <p:nvSpPr>
          <p:cNvPr id="39" name="Text 37"/>
          <p:cNvSpPr txBox="1"/>
          <p:nvPr/>
        </p:nvSpPr>
        <p:spPr>
          <a:xfrm>
            <a:off x="566928" y="4654296"/>
            <a:ext cx="8046720" cy="219456"/>
          </a:xfrm>
          <a:prstGeom prst="rect">
            <a:avLst/>
          </a:prstGeom>
          <a:noFill/>
          <a:ln/>
        </p:spPr>
        <p:txBody>
          <a:bodyPr wrap="square" lIns="0" tIns="0" rIns="0" bIns="0" rtlCol="0" anchor="ctr"/>
          <a:lstStyle/>
          <a:p>
            <a:pPr marL="0" indent="0">
              <a:buNone/>
            </a:pPr>
            <a:r>
              <a:rPr lang="en-US" sz="850">
                <a:solidFill>
                  <a:srgbClr val="2D6A4F"/>
                </a:solidFill>
                <a:latin typeface="Calibri" pitchFamily="34" charset="0"/>
                <a:ea typeface="Calibri" pitchFamily="34" charset="-122"/>
                <a:cs typeface="Calibri" pitchFamily="34" charset="-120"/>
              </a:rPr>
              <a:t>Design implication: AI Chef combines conversational reasoning with structured inventory data and user confirmation — each theme maps to a concrete decision.</a:t>
            </a:r>
            <a:endParaRPr lang="en-US" sz="850"/>
          </a:p>
        </p:txBody>
      </p:sp>
      <p:sp>
        <p:nvSpPr>
          <p:cNvPr id="40" name="Text 38"/>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41" name="Text 39"/>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5</a:t>
            </a:r>
            <a:endParaRPr lang="en-US" sz="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
          </a:xfrm>
          <a:prstGeom prst="rect">
            <a:avLst/>
          </a:prstGeom>
          <a:solidFill>
            <a:srgbClr val="2E6A52"/>
          </a:solidFill>
          <a:ln/>
        </p:spPr>
        <p:txBody>
          <a:bodyPr/>
          <a:lstStyle/>
          <a:p>
            <a:endParaRPr lang="en-IN"/>
          </a:p>
        </p:txBody>
      </p:sp>
      <p:sp>
        <p:nvSpPr>
          <p:cNvPr id="3" name="Text 1"/>
          <p:cNvSpPr/>
          <p:nvPr/>
        </p:nvSpPr>
        <p:spPr>
          <a:xfrm>
            <a:off x="381000" y="170482"/>
            <a:ext cx="2457670"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kern="0" spc="113">
                <a:solidFill>
                  <a:srgbClr val="CFE3D8"/>
                </a:solidFill>
                <a:latin typeface="Lato" pitchFamily="34" charset="0"/>
                <a:ea typeface="Lato" pitchFamily="34" charset="-122"/>
                <a:cs typeface="Lato" pitchFamily="34" charset="-120"/>
              </a:rPr>
              <a:t>INITIAL CONCEPT &amp; GENAI VALUE</a:t>
            </a:r>
            <a:endParaRPr lang="en-US" sz="975"/>
          </a:p>
        </p:txBody>
      </p:sp>
      <p:sp>
        <p:nvSpPr>
          <p:cNvPr id="4" name="Text 2"/>
          <p:cNvSpPr/>
          <p:nvPr/>
        </p:nvSpPr>
        <p:spPr>
          <a:xfrm>
            <a:off x="381000" y="704850"/>
            <a:ext cx="8633460" cy="322883"/>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2393"/>
              </a:lnSpc>
              <a:buNone/>
            </a:pPr>
            <a:r>
              <a:rPr lang="en-US" sz="2175" b="1">
                <a:solidFill>
                  <a:srgbClr val="11222C"/>
                </a:solidFill>
                <a:latin typeface="Lato" pitchFamily="34" charset="0"/>
                <a:ea typeface="Lato" pitchFamily="34" charset="-122"/>
                <a:cs typeface="Lato" pitchFamily="34" charset="-120"/>
              </a:rPr>
              <a:t>What AI Chef Does — and Why GenAI Is Essential</a:t>
            </a:r>
            <a:endParaRPr lang="en-US" sz="2175"/>
          </a:p>
        </p:txBody>
      </p:sp>
      <p:pic>
        <p:nvPicPr>
          <p:cNvPr id="5" name="Image 0" descr="rect"/>
          <p:cNvPicPr>
            <a:picLocks noChangeAspect="1"/>
          </p:cNvPicPr>
          <p:nvPr/>
        </p:nvPicPr>
        <p:blipFill>
          <a:blip r:embed="rId3"/>
          <a:srcRect/>
          <a:stretch/>
        </p:blipFill>
        <p:spPr>
          <a:xfrm>
            <a:off x="381000" y="1084883"/>
            <a:ext cx="342900" cy="38100"/>
          </a:xfrm>
          <a:prstGeom prst="rect">
            <a:avLst/>
          </a:prstGeom>
        </p:spPr>
      </p:pic>
      <p:sp>
        <p:nvSpPr>
          <p:cNvPr id="6" name="Text 3"/>
          <p:cNvSpPr/>
          <p:nvPr/>
        </p:nvSpPr>
        <p:spPr>
          <a:xfrm>
            <a:off x="381000" y="1199183"/>
            <a:ext cx="8633460" cy="211931"/>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519"/>
              </a:lnSpc>
              <a:buNone/>
            </a:pPr>
            <a:r>
              <a:rPr lang="en-US" sz="1125" b="1">
                <a:solidFill>
                  <a:srgbClr val="2E6A52"/>
                </a:solidFill>
                <a:latin typeface="Lato" pitchFamily="34" charset="0"/>
                <a:ea typeface="Lato" pitchFamily="34" charset="-122"/>
                <a:cs typeface="Lato" pitchFamily="34" charset="-120"/>
              </a:rPr>
              <a:t>Upload a receipt, confirm what you actually have, then ask for a meal in plain language.</a:t>
            </a:r>
            <a:endParaRPr lang="en-US" sz="1125"/>
          </a:p>
        </p:txBody>
      </p:sp>
      <p:sp>
        <p:nvSpPr>
          <p:cNvPr id="7" name="Shape 4"/>
          <p:cNvSpPr/>
          <p:nvPr/>
        </p:nvSpPr>
        <p:spPr>
          <a:xfrm>
            <a:off x="383381"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8" name="Shape 5"/>
          <p:cNvSpPr/>
          <p:nvPr/>
        </p:nvSpPr>
        <p:spPr>
          <a:xfrm>
            <a:off x="519113" y="1644476"/>
            <a:ext cx="228600" cy="228600"/>
          </a:xfrm>
          <a:prstGeom prst="roundRect">
            <a:avLst>
              <a:gd name="adj" fmla="val 50000"/>
            </a:avLst>
          </a:prstGeom>
          <a:solidFill>
            <a:srgbClr val="2E6A52"/>
          </a:solidFill>
          <a:ln/>
        </p:spPr>
        <p:txBody>
          <a:bodyPr/>
          <a:lstStyle/>
          <a:p>
            <a:endParaRPr lang="en-IN"/>
          </a:p>
        </p:txBody>
      </p:sp>
      <p:sp>
        <p:nvSpPr>
          <p:cNvPr id="9" name="Text 6"/>
          <p:cNvSpPr/>
          <p:nvPr/>
        </p:nvSpPr>
        <p:spPr>
          <a:xfrm>
            <a:off x="500063"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1</a:t>
            </a:r>
            <a:endParaRPr lang="en-US" sz="975"/>
          </a:p>
        </p:txBody>
      </p:sp>
      <p:sp>
        <p:nvSpPr>
          <p:cNvPr id="10" name="Text 7"/>
          <p:cNvSpPr/>
          <p:nvPr/>
        </p:nvSpPr>
        <p:spPr>
          <a:xfrm>
            <a:off x="519112" y="1939751"/>
            <a:ext cx="1785557"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Reads messy receipts</a:t>
            </a:r>
            <a:endParaRPr lang="en-US" sz="975"/>
          </a:p>
        </p:txBody>
      </p:sp>
      <p:sp>
        <p:nvSpPr>
          <p:cNvPr id="11" name="Text 8"/>
          <p:cNvSpPr/>
          <p:nvPr/>
        </p:nvSpPr>
        <p:spPr>
          <a:xfrm>
            <a:off x="519112" y="2179774"/>
            <a:ext cx="1785557" cy="32764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Turns “GV WHL MLK 2%” into whole milk, 2%, 1 gallon.</a:t>
            </a:r>
            <a:endParaRPr lang="en-US" sz="900"/>
          </a:p>
        </p:txBody>
      </p:sp>
      <p:sp>
        <p:nvSpPr>
          <p:cNvPr id="12" name="Shape 9"/>
          <p:cNvSpPr/>
          <p:nvPr/>
        </p:nvSpPr>
        <p:spPr>
          <a:xfrm>
            <a:off x="2507456"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13" name="Shape 10"/>
          <p:cNvSpPr/>
          <p:nvPr/>
        </p:nvSpPr>
        <p:spPr>
          <a:xfrm>
            <a:off x="2643188" y="1644476"/>
            <a:ext cx="228600" cy="228600"/>
          </a:xfrm>
          <a:prstGeom prst="roundRect">
            <a:avLst>
              <a:gd name="adj" fmla="val 50000"/>
            </a:avLst>
          </a:prstGeom>
          <a:solidFill>
            <a:srgbClr val="2E6A52"/>
          </a:solidFill>
          <a:ln/>
        </p:spPr>
        <p:txBody>
          <a:bodyPr/>
          <a:lstStyle/>
          <a:p>
            <a:endParaRPr lang="en-IN"/>
          </a:p>
        </p:txBody>
      </p:sp>
      <p:sp>
        <p:nvSpPr>
          <p:cNvPr id="14" name="Text 11"/>
          <p:cNvSpPr/>
          <p:nvPr/>
        </p:nvSpPr>
        <p:spPr>
          <a:xfrm>
            <a:off x="2624138"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2</a:t>
            </a:r>
            <a:endParaRPr lang="en-US" sz="975"/>
          </a:p>
        </p:txBody>
      </p:sp>
      <p:sp>
        <p:nvSpPr>
          <p:cNvPr id="15" name="Text 12"/>
          <p:cNvSpPr/>
          <p:nvPr/>
        </p:nvSpPr>
        <p:spPr>
          <a:xfrm>
            <a:off x="2643187" y="1939751"/>
            <a:ext cx="1785557" cy="36574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Hears constraints in plain words</a:t>
            </a:r>
            <a:endParaRPr lang="en-US" sz="975"/>
          </a:p>
        </p:txBody>
      </p:sp>
      <p:sp>
        <p:nvSpPr>
          <p:cNvPr id="16" name="Text 13"/>
          <p:cNvSpPr/>
          <p:nvPr/>
        </p:nvSpPr>
        <p:spPr>
          <a:xfrm>
            <a:off x="2643187" y="2353121"/>
            <a:ext cx="1785557" cy="481943"/>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“High protein, vegetarian, under 20 minutes” becomes filters it holds onto.</a:t>
            </a:r>
            <a:endParaRPr lang="en-US" sz="900"/>
          </a:p>
        </p:txBody>
      </p:sp>
      <p:sp>
        <p:nvSpPr>
          <p:cNvPr id="17" name="Shape 14"/>
          <p:cNvSpPr/>
          <p:nvPr/>
        </p:nvSpPr>
        <p:spPr>
          <a:xfrm>
            <a:off x="4631531"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18" name="Shape 15"/>
          <p:cNvSpPr/>
          <p:nvPr/>
        </p:nvSpPr>
        <p:spPr>
          <a:xfrm>
            <a:off x="4767263" y="1644476"/>
            <a:ext cx="228600" cy="228600"/>
          </a:xfrm>
          <a:prstGeom prst="roundRect">
            <a:avLst>
              <a:gd name="adj" fmla="val 50000"/>
            </a:avLst>
          </a:prstGeom>
          <a:solidFill>
            <a:srgbClr val="2E6A52"/>
          </a:solidFill>
          <a:ln/>
        </p:spPr>
        <p:txBody>
          <a:bodyPr/>
          <a:lstStyle/>
          <a:p>
            <a:endParaRPr lang="en-IN"/>
          </a:p>
        </p:txBody>
      </p:sp>
      <p:sp>
        <p:nvSpPr>
          <p:cNvPr id="19" name="Text 16"/>
          <p:cNvSpPr/>
          <p:nvPr/>
        </p:nvSpPr>
        <p:spPr>
          <a:xfrm>
            <a:off x="4748213"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3</a:t>
            </a:r>
            <a:endParaRPr lang="en-US" sz="975"/>
          </a:p>
        </p:txBody>
      </p:sp>
      <p:sp>
        <p:nvSpPr>
          <p:cNvPr id="20" name="Text 17"/>
          <p:cNvSpPr/>
          <p:nvPr/>
        </p:nvSpPr>
        <p:spPr>
          <a:xfrm>
            <a:off x="4767262" y="1939751"/>
            <a:ext cx="1785557"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Judges ingredients</a:t>
            </a:r>
            <a:endParaRPr lang="en-US" sz="975"/>
          </a:p>
        </p:txBody>
      </p:sp>
      <p:sp>
        <p:nvSpPr>
          <p:cNvPr id="21" name="Text 18"/>
          <p:cNvSpPr/>
          <p:nvPr/>
        </p:nvSpPr>
        <p:spPr>
          <a:xfrm>
            <a:off x="4767262" y="2179774"/>
            <a:ext cx="1785557" cy="481943"/>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Required, optional, or substitutable: cottage cheese for ricotta.</a:t>
            </a:r>
            <a:endParaRPr lang="en-US" sz="900"/>
          </a:p>
        </p:txBody>
      </p:sp>
      <p:sp>
        <p:nvSpPr>
          <p:cNvPr id="22" name="Shape 19"/>
          <p:cNvSpPr/>
          <p:nvPr/>
        </p:nvSpPr>
        <p:spPr>
          <a:xfrm>
            <a:off x="6755606" y="1508745"/>
            <a:ext cx="2005013" cy="1443000"/>
          </a:xfrm>
          <a:prstGeom prst="roundRect">
            <a:avLst>
              <a:gd name="adj" fmla="val 3795"/>
            </a:avLst>
          </a:prstGeom>
          <a:solidFill>
            <a:srgbClr val="F1F2F5"/>
          </a:solidFill>
          <a:ln w="6350">
            <a:solidFill>
              <a:srgbClr val="E2E5EA"/>
            </a:solidFill>
            <a:prstDash val="solid"/>
          </a:ln>
        </p:spPr>
        <p:txBody>
          <a:bodyPr/>
          <a:lstStyle/>
          <a:p>
            <a:endParaRPr lang="en-IN"/>
          </a:p>
        </p:txBody>
      </p:sp>
      <p:sp>
        <p:nvSpPr>
          <p:cNvPr id="23" name="Shape 20"/>
          <p:cNvSpPr/>
          <p:nvPr/>
        </p:nvSpPr>
        <p:spPr>
          <a:xfrm>
            <a:off x="6891338" y="1644476"/>
            <a:ext cx="228600" cy="228600"/>
          </a:xfrm>
          <a:prstGeom prst="roundRect">
            <a:avLst>
              <a:gd name="adj" fmla="val 50000"/>
            </a:avLst>
          </a:prstGeom>
          <a:solidFill>
            <a:srgbClr val="E9704A"/>
          </a:solidFill>
          <a:ln/>
        </p:spPr>
        <p:txBody>
          <a:bodyPr/>
          <a:lstStyle/>
          <a:p>
            <a:endParaRPr lang="en-IN"/>
          </a:p>
        </p:txBody>
      </p:sp>
      <p:sp>
        <p:nvSpPr>
          <p:cNvPr id="24" name="Text 21"/>
          <p:cNvSpPr/>
          <p:nvPr/>
        </p:nvSpPr>
        <p:spPr>
          <a:xfrm>
            <a:off x="6872288" y="1644476"/>
            <a:ext cx="266700" cy="24765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lnSpc>
                <a:spcPts val="1804"/>
              </a:lnSpc>
              <a:buNone/>
            </a:pPr>
            <a:r>
              <a:rPr lang="en-US" sz="975" b="1">
                <a:solidFill>
                  <a:srgbClr val="FFFFFF"/>
                </a:solidFill>
                <a:latin typeface="Lato" pitchFamily="34" charset="0"/>
                <a:ea typeface="Lato" pitchFamily="34" charset="-122"/>
                <a:cs typeface="Lato" pitchFamily="34" charset="-120"/>
              </a:rPr>
              <a:t>4</a:t>
            </a:r>
            <a:endParaRPr lang="en-US" sz="975"/>
          </a:p>
        </p:txBody>
      </p:sp>
      <p:sp>
        <p:nvSpPr>
          <p:cNvPr id="25" name="Text 22"/>
          <p:cNvSpPr/>
          <p:nvPr/>
        </p:nvSpPr>
        <p:spPr>
          <a:xfrm>
            <a:off x="6891337" y="1939751"/>
            <a:ext cx="1785557" cy="19239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365"/>
              </a:lnSpc>
              <a:buNone/>
            </a:pPr>
            <a:r>
              <a:rPr lang="en-US" sz="975" b="1">
                <a:solidFill>
                  <a:srgbClr val="11222C"/>
                </a:solidFill>
                <a:latin typeface="Lato" pitchFamily="34" charset="0"/>
                <a:ea typeface="Lato" pitchFamily="34" charset="-122"/>
                <a:cs typeface="Lato" pitchFamily="34" charset="-120"/>
              </a:rPr>
              <a:t>Adapts or switches</a:t>
            </a:r>
            <a:endParaRPr lang="en-US" sz="975"/>
          </a:p>
        </p:txBody>
      </p:sp>
      <p:sp>
        <p:nvSpPr>
          <p:cNvPr id="26" name="Text 23"/>
          <p:cNvSpPr/>
          <p:nvPr/>
        </p:nvSpPr>
        <p:spPr>
          <a:xfrm>
            <a:off x="6891337" y="2179774"/>
            <a:ext cx="1785557" cy="32764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15"/>
              </a:lnSpc>
              <a:buNone/>
            </a:pPr>
            <a:r>
              <a:rPr lang="en-US" sz="900">
                <a:solidFill>
                  <a:srgbClr val="5A6270"/>
                </a:solidFill>
                <a:latin typeface="Lato" pitchFamily="34" charset="0"/>
                <a:ea typeface="Lato" pitchFamily="34" charset="-122"/>
                <a:cs typeface="Lato" pitchFamily="34" charset="-120"/>
              </a:rPr>
              <a:t>Rescales a recipe when an item runs short, instead of dropping it.</a:t>
            </a:r>
            <a:endParaRPr lang="en-US" sz="900"/>
          </a:p>
        </p:txBody>
      </p:sp>
      <p:sp>
        <p:nvSpPr>
          <p:cNvPr id="27" name="Shape 24"/>
          <p:cNvSpPr/>
          <p:nvPr/>
        </p:nvSpPr>
        <p:spPr>
          <a:xfrm>
            <a:off x="381000" y="3068427"/>
            <a:ext cx="8382000" cy="1081311"/>
          </a:xfrm>
          <a:prstGeom prst="roundRect">
            <a:avLst>
              <a:gd name="adj" fmla="val 5285"/>
            </a:avLst>
          </a:prstGeom>
          <a:solidFill>
            <a:srgbClr val="2E6A52"/>
          </a:solidFill>
          <a:ln/>
        </p:spPr>
        <p:txBody>
          <a:bodyPr/>
          <a:lstStyle/>
          <a:p>
            <a:endParaRPr lang="en-IN"/>
          </a:p>
        </p:txBody>
      </p:sp>
      <p:sp>
        <p:nvSpPr>
          <p:cNvPr id="28" name="Text 25"/>
          <p:cNvSpPr/>
          <p:nvPr/>
        </p:nvSpPr>
        <p:spPr>
          <a:xfrm>
            <a:off x="533400" y="3192252"/>
            <a:ext cx="8319516" cy="199058"/>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418"/>
              </a:lnSpc>
              <a:buNone/>
            </a:pPr>
            <a:r>
              <a:rPr lang="en-US" sz="1013" b="1">
                <a:solidFill>
                  <a:srgbClr val="A9D2BF"/>
                </a:solidFill>
                <a:latin typeface="Lato" pitchFamily="34" charset="0"/>
                <a:ea typeface="Lato" pitchFamily="34" charset="-122"/>
                <a:cs typeface="Lato" pitchFamily="34" charset="-120"/>
              </a:rPr>
              <a:t>Where GenAI Is Deliberately Not in Charge</a:t>
            </a:r>
            <a:endParaRPr lang="en-US" sz="1013"/>
          </a:p>
        </p:txBody>
      </p:sp>
      <p:sp>
        <p:nvSpPr>
          <p:cNvPr id="29" name="Text 26"/>
          <p:cNvSpPr/>
          <p:nvPr/>
        </p:nvSpPr>
        <p:spPr>
          <a:xfrm>
            <a:off x="533400" y="3429410"/>
            <a:ext cx="8319516" cy="17978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66"/>
              </a:lnSpc>
            </a:pPr>
            <a:r>
              <a:rPr lang="en-US" sz="900">
                <a:solidFill>
                  <a:srgbClr val="F2F5F3"/>
                </a:solidFill>
                <a:latin typeface="Lato"/>
                <a:ea typeface="Lato"/>
                <a:cs typeface="Lato"/>
              </a:rPr>
              <a:t>→ Inventory lives in PostgreSQL and is confirmed by you, never remembered by the model.</a:t>
            </a:r>
            <a:endParaRPr lang="en-US" sz="900">
              <a:latin typeface="Lato"/>
              <a:ea typeface="Lato"/>
              <a:cs typeface="Lato"/>
            </a:endParaRPr>
          </a:p>
        </p:txBody>
      </p:sp>
      <p:sp>
        <p:nvSpPr>
          <p:cNvPr id="30" name="Text 27"/>
          <p:cNvSpPr/>
          <p:nvPr/>
        </p:nvSpPr>
        <p:spPr>
          <a:xfrm>
            <a:off x="533400" y="3647294"/>
            <a:ext cx="8319516" cy="17978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66"/>
              </a:lnSpc>
              <a:buNone/>
            </a:pPr>
            <a:r>
              <a:rPr lang="en-US" sz="938">
                <a:solidFill>
                  <a:srgbClr val="F2F5F3"/>
                </a:solidFill>
                <a:latin typeface="Lato" pitchFamily="34" charset="0"/>
                <a:ea typeface="Lato" pitchFamily="34" charset="-122"/>
                <a:cs typeface="Lato" pitchFamily="34" charset="-120"/>
              </a:rPr>
              <a:t>→ Quantities and units are compared in code, not estimated by the LLM.</a:t>
            </a:r>
            <a:endParaRPr lang="en-US" sz="938"/>
          </a:p>
        </p:txBody>
      </p:sp>
      <p:sp>
        <p:nvSpPr>
          <p:cNvPr id="31" name="Text 28"/>
          <p:cNvSpPr/>
          <p:nvPr/>
        </p:nvSpPr>
        <p:spPr>
          <a:xfrm>
            <a:off x="533400" y="3865179"/>
            <a:ext cx="8319516" cy="179785"/>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66"/>
              </a:lnSpc>
              <a:buNone/>
            </a:pPr>
            <a:r>
              <a:rPr lang="en-US" sz="938">
                <a:solidFill>
                  <a:srgbClr val="F2F5F3"/>
                </a:solidFill>
                <a:latin typeface="Lato" pitchFamily="34" charset="0"/>
                <a:ea typeface="Lato" pitchFamily="34" charset="-122"/>
                <a:cs typeface="Lato" pitchFamily="34" charset="-120"/>
              </a:rPr>
              <a:t>→ Remove the LLM and there is no product. Remove it from the inventory and nothing breaks.</a:t>
            </a:r>
            <a:endParaRPr lang="en-US" sz="938"/>
          </a:p>
        </p:txBody>
      </p:sp>
      <p:sp>
        <p:nvSpPr>
          <p:cNvPr id="32" name="Text 29"/>
          <p:cNvSpPr/>
          <p:nvPr/>
        </p:nvSpPr>
        <p:spPr>
          <a:xfrm>
            <a:off x="381000" y="4678710"/>
            <a:ext cx="1154013" cy="179040"/>
          </a:xfrm>
          <a:prstGeom prst="rect">
            <a:avLst/>
          </a:prstGeom>
          <a:noFill/>
          <a:ln/>
        </p:spPr>
        <p:txBody>
          <a:bodyPr wrap="square" lIns="0" tIns="0" rIns="0" bIns="0"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lnSpc>
                <a:spcPts val="1260"/>
              </a:lnSpc>
              <a:buNone/>
            </a:pPr>
            <a:r>
              <a:rPr lang="en-US" sz="900">
                <a:solidFill>
                  <a:srgbClr val="8A929C"/>
                </a:solidFill>
                <a:latin typeface="Lato" pitchFamily="34" charset="0"/>
                <a:ea typeface="Lato" pitchFamily="34" charset="-122"/>
                <a:cs typeface="Lato" pitchFamily="34" charset="-120"/>
              </a:rPr>
              <a:t>AI Chef · Checkpoint 1</a:t>
            </a:r>
            <a:endParaRPr lang="en-US" sz="900"/>
          </a:p>
        </p:txBody>
      </p:sp>
    </p:spTree>
    <p:extLst>
      <p:ext uri="{BB962C8B-B14F-4D97-AF65-F5344CB8AC3E}">
        <p14:creationId xmlns:p14="http://schemas.microsoft.com/office/powerpoint/2010/main" val="664315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WHAT'S NEXT</a:t>
            </a:r>
            <a:endParaRPr lang="en-US" sz="1100"/>
          </a:p>
        </p:txBody>
      </p:sp>
      <p:sp>
        <p:nvSpPr>
          <p:cNvPr id="5" name="Text 3"/>
          <p:cNvSpPr txBox="1"/>
          <p:nvPr/>
        </p:nvSpPr>
        <p:spPr>
          <a:xfrm>
            <a:off x="365760" y="621792"/>
            <a:ext cx="8412480" cy="475488"/>
          </a:xfrm>
          <a:prstGeom prst="rect">
            <a:avLst/>
          </a:prstGeom>
          <a:noFill/>
          <a:ln/>
        </p:spPr>
        <p:txBody>
          <a:bodyPr wrap="square" lIns="0" tIns="0" rIns="0" bIns="0" rtlCol="0" anchor="ctr"/>
          <a:lstStyle/>
          <a:p>
            <a:pPr marL="0" indent="0">
              <a:buNone/>
            </a:pPr>
            <a:r>
              <a:rPr lang="en-US" sz="3000" b="1">
                <a:solidFill>
                  <a:srgbClr val="0F1923"/>
                </a:solidFill>
                <a:latin typeface="Calibri" pitchFamily="34" charset="0"/>
                <a:ea typeface="Calibri" pitchFamily="34" charset="-122"/>
                <a:cs typeface="Calibri" pitchFamily="34" charset="-120"/>
              </a:rPr>
              <a:t>Milestones &amp; Next Steps</a:t>
            </a:r>
            <a:endParaRPr lang="en-US" sz="3000"/>
          </a:p>
        </p:txBody>
      </p:sp>
      <p:sp>
        <p:nvSpPr>
          <p:cNvPr id="6" name="Shape 4"/>
          <p:cNvSpPr/>
          <p:nvPr/>
        </p:nvSpPr>
        <p:spPr>
          <a:xfrm>
            <a:off x="365760" y="1234440"/>
            <a:ext cx="2606040" cy="347472"/>
          </a:xfrm>
          <a:prstGeom prst="roundRect">
            <a:avLst>
              <a:gd name="adj" fmla="val 15789"/>
            </a:avLst>
          </a:prstGeom>
          <a:solidFill>
            <a:srgbClr val="2D6A4F"/>
          </a:solidFill>
          <a:ln w="12700">
            <a:solidFill>
              <a:srgbClr val="2D6A4F"/>
            </a:solidFill>
            <a:prstDash val="solid"/>
          </a:ln>
        </p:spPr>
        <p:txBody>
          <a:bodyPr/>
          <a:lstStyle/>
          <a:p>
            <a:endParaRPr lang="en-US"/>
          </a:p>
        </p:txBody>
      </p:sp>
      <p:sp>
        <p:nvSpPr>
          <p:cNvPr id="7" name="Text 5"/>
          <p:cNvSpPr txBox="1"/>
          <p:nvPr/>
        </p:nvSpPr>
        <p:spPr>
          <a:xfrm>
            <a:off x="475488" y="1261872"/>
            <a:ext cx="2377440"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  Agent Test Cases</a:t>
            </a:r>
            <a:endParaRPr lang="en-US" sz="1000"/>
          </a:p>
        </p:txBody>
      </p:sp>
      <p:sp>
        <p:nvSpPr>
          <p:cNvPr id="8" name="Shape 6"/>
          <p:cNvSpPr/>
          <p:nvPr/>
        </p:nvSpPr>
        <p:spPr>
          <a:xfrm>
            <a:off x="3200400" y="1234440"/>
            <a:ext cx="2606040" cy="347472"/>
          </a:xfrm>
          <a:prstGeom prst="roundRect">
            <a:avLst>
              <a:gd name="adj" fmla="val 15789"/>
            </a:avLst>
          </a:prstGeom>
          <a:solidFill>
            <a:srgbClr val="B5451B"/>
          </a:solidFill>
          <a:ln w="12700">
            <a:solidFill>
              <a:srgbClr val="B5451B"/>
            </a:solidFill>
            <a:prstDash val="solid"/>
          </a:ln>
        </p:spPr>
        <p:txBody>
          <a:bodyPr/>
          <a:lstStyle/>
          <a:p>
            <a:endParaRPr lang="en-US"/>
          </a:p>
        </p:txBody>
      </p:sp>
      <p:sp>
        <p:nvSpPr>
          <p:cNvPr id="9" name="Text 7"/>
          <p:cNvSpPr txBox="1"/>
          <p:nvPr/>
        </p:nvSpPr>
        <p:spPr>
          <a:xfrm>
            <a:off x="3310128" y="1261872"/>
            <a:ext cx="2377440"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  Technical Risks</a:t>
            </a:r>
            <a:endParaRPr lang="en-US" sz="1000"/>
          </a:p>
        </p:txBody>
      </p:sp>
      <p:sp>
        <p:nvSpPr>
          <p:cNvPr id="10" name="Shape 8"/>
          <p:cNvSpPr/>
          <p:nvPr/>
        </p:nvSpPr>
        <p:spPr>
          <a:xfrm>
            <a:off x="6035040" y="1234440"/>
            <a:ext cx="2606040" cy="347472"/>
          </a:xfrm>
          <a:prstGeom prst="roundRect">
            <a:avLst>
              <a:gd name="adj" fmla="val 15789"/>
            </a:avLst>
          </a:prstGeom>
          <a:solidFill>
            <a:srgbClr val="1A5276"/>
          </a:solidFill>
          <a:ln w="12700">
            <a:solidFill>
              <a:srgbClr val="1A5276"/>
            </a:solidFill>
            <a:prstDash val="solid"/>
          </a:ln>
        </p:spPr>
        <p:txBody>
          <a:bodyPr/>
          <a:lstStyle/>
          <a:p>
            <a:endParaRPr lang="en-US"/>
          </a:p>
        </p:txBody>
      </p:sp>
      <p:sp>
        <p:nvSpPr>
          <p:cNvPr id="11" name="Text 9"/>
          <p:cNvSpPr txBox="1"/>
          <p:nvPr/>
        </p:nvSpPr>
        <p:spPr>
          <a:xfrm>
            <a:off x="6144768" y="1261872"/>
            <a:ext cx="2377440"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  Immediate Next Steps</a:t>
            </a:r>
            <a:endParaRPr lang="en-US" sz="1000"/>
          </a:p>
        </p:txBody>
      </p:sp>
      <p:sp>
        <p:nvSpPr>
          <p:cNvPr id="12" name="Shape 10"/>
          <p:cNvSpPr/>
          <p:nvPr/>
        </p:nvSpPr>
        <p:spPr>
          <a:xfrm>
            <a:off x="457200" y="1700784"/>
            <a:ext cx="164592" cy="164592"/>
          </a:xfrm>
          <a:prstGeom prst="ellipse">
            <a:avLst/>
          </a:prstGeom>
          <a:solidFill>
            <a:srgbClr val="52B788"/>
          </a:solidFill>
          <a:ln w="12700">
            <a:solidFill>
              <a:srgbClr val="52B788"/>
            </a:solidFill>
            <a:prstDash val="solid"/>
          </a:ln>
        </p:spPr>
        <p:txBody>
          <a:bodyPr/>
          <a:lstStyle/>
          <a:p>
            <a:endParaRPr lang="en-US"/>
          </a:p>
        </p:txBody>
      </p:sp>
      <p:sp>
        <p:nvSpPr>
          <p:cNvPr id="13" name="Text 11"/>
          <p:cNvSpPr txBox="1"/>
          <p:nvPr/>
        </p:nvSpPr>
        <p:spPr>
          <a:xfrm>
            <a:off x="694944" y="1580281"/>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Inventory extraction accuracy</a:t>
            </a:r>
            <a:endParaRPr lang="en-US" sz="900"/>
          </a:p>
          <a:p>
            <a:pPr marL="0" indent="0">
              <a:buNone/>
            </a:pPr>
            <a:r>
              <a:rPr lang="en-US" sz="900">
                <a:solidFill>
                  <a:srgbClr val="0F1923"/>
                </a:solidFill>
                <a:latin typeface="Calibri" pitchFamily="34" charset="0"/>
                <a:ea typeface="Calibri" pitchFamily="34" charset="-122"/>
                <a:cs typeface="Calibri" pitchFamily="34" charset="-120"/>
              </a:rPr>
              <a:t>(item, quantity, unit)</a:t>
            </a:r>
            <a:endParaRPr lang="en-US" sz="900"/>
          </a:p>
        </p:txBody>
      </p:sp>
      <p:sp>
        <p:nvSpPr>
          <p:cNvPr id="14" name="Shape 12"/>
          <p:cNvSpPr/>
          <p:nvPr/>
        </p:nvSpPr>
        <p:spPr>
          <a:xfrm>
            <a:off x="457200" y="2340864"/>
            <a:ext cx="164592" cy="164592"/>
          </a:xfrm>
          <a:prstGeom prst="ellipse">
            <a:avLst/>
          </a:prstGeom>
          <a:solidFill>
            <a:srgbClr val="52B788"/>
          </a:solidFill>
          <a:ln w="12700">
            <a:solidFill>
              <a:srgbClr val="52B788"/>
            </a:solidFill>
            <a:prstDash val="solid"/>
          </a:ln>
        </p:spPr>
        <p:txBody>
          <a:bodyPr/>
          <a:lstStyle/>
          <a:p>
            <a:endParaRPr lang="en-US"/>
          </a:p>
        </p:txBody>
      </p:sp>
      <p:sp>
        <p:nvSpPr>
          <p:cNvPr id="15" name="Text 13"/>
          <p:cNvSpPr txBox="1"/>
          <p:nvPr/>
        </p:nvSpPr>
        <p:spPr>
          <a:xfrm>
            <a:off x="694944" y="2224358"/>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Constraint preservation</a:t>
            </a:r>
            <a:endParaRPr lang="en-US" sz="900"/>
          </a:p>
          <a:p>
            <a:pPr marL="0" indent="0">
              <a:buNone/>
            </a:pPr>
            <a:r>
              <a:rPr lang="en-US" sz="900">
                <a:solidFill>
                  <a:srgbClr val="0F1923"/>
                </a:solidFill>
                <a:latin typeface="Calibri" pitchFamily="34" charset="0"/>
                <a:ea typeface="Calibri" pitchFamily="34" charset="-122"/>
                <a:cs typeface="Calibri" pitchFamily="34" charset="-120"/>
              </a:rPr>
              <a:t>(time, diet, protein, dislikes)</a:t>
            </a:r>
            <a:endParaRPr lang="en-US" sz="900"/>
          </a:p>
        </p:txBody>
      </p:sp>
      <p:sp>
        <p:nvSpPr>
          <p:cNvPr id="16" name="Shape 14"/>
          <p:cNvSpPr/>
          <p:nvPr/>
        </p:nvSpPr>
        <p:spPr>
          <a:xfrm>
            <a:off x="457200" y="2980944"/>
            <a:ext cx="164592" cy="164592"/>
          </a:xfrm>
          <a:prstGeom prst="ellipse">
            <a:avLst/>
          </a:prstGeom>
          <a:solidFill>
            <a:srgbClr val="52B788"/>
          </a:solidFill>
          <a:ln w="12700">
            <a:solidFill>
              <a:srgbClr val="52B788"/>
            </a:solidFill>
            <a:prstDash val="solid"/>
          </a:ln>
        </p:spPr>
        <p:txBody>
          <a:bodyPr/>
          <a:lstStyle/>
          <a:p>
            <a:endParaRPr lang="en-US"/>
          </a:p>
        </p:txBody>
      </p:sp>
      <p:sp>
        <p:nvSpPr>
          <p:cNvPr id="17" name="Text 15"/>
          <p:cNvSpPr txBox="1"/>
          <p:nvPr/>
        </p:nvSpPr>
        <p:spPr>
          <a:xfrm>
            <a:off x="694944" y="2844455"/>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Ingredient reasoning</a:t>
            </a:r>
            <a:endParaRPr lang="en-US" sz="900"/>
          </a:p>
          <a:p>
            <a:pPr marL="0" indent="0">
              <a:buNone/>
            </a:pPr>
            <a:r>
              <a:rPr lang="en-US" sz="900">
                <a:solidFill>
                  <a:srgbClr val="0F1923"/>
                </a:solidFill>
                <a:latin typeface="Calibri" pitchFamily="34" charset="0"/>
                <a:ea typeface="Calibri" pitchFamily="34" charset="-122"/>
                <a:cs typeface="Calibri" pitchFamily="34" charset="-120"/>
              </a:rPr>
              <a:t>(required vs. optional vs. sub)</a:t>
            </a:r>
            <a:endParaRPr lang="en-US" sz="900"/>
          </a:p>
        </p:txBody>
      </p:sp>
      <p:sp>
        <p:nvSpPr>
          <p:cNvPr id="18" name="Shape 16"/>
          <p:cNvSpPr/>
          <p:nvPr/>
        </p:nvSpPr>
        <p:spPr>
          <a:xfrm>
            <a:off x="457200" y="3621024"/>
            <a:ext cx="164592" cy="164592"/>
          </a:xfrm>
          <a:prstGeom prst="ellipse">
            <a:avLst/>
          </a:prstGeom>
          <a:solidFill>
            <a:srgbClr val="52B788"/>
          </a:solidFill>
          <a:ln w="12700">
            <a:solidFill>
              <a:srgbClr val="52B788"/>
            </a:solidFill>
            <a:prstDash val="solid"/>
          </a:ln>
        </p:spPr>
        <p:txBody>
          <a:bodyPr/>
          <a:lstStyle/>
          <a:p>
            <a:endParaRPr lang="en-US"/>
          </a:p>
        </p:txBody>
      </p:sp>
      <p:sp>
        <p:nvSpPr>
          <p:cNvPr id="19" name="Text 17"/>
          <p:cNvSpPr txBox="1"/>
          <p:nvPr/>
        </p:nvSpPr>
        <p:spPr>
          <a:xfrm>
            <a:off x="694944" y="3496525"/>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Adaptation &amp; graceful switching</a:t>
            </a:r>
            <a:endParaRPr lang="en-US" sz="900"/>
          </a:p>
        </p:txBody>
      </p:sp>
      <p:sp>
        <p:nvSpPr>
          <p:cNvPr id="20" name="Shape 18"/>
          <p:cNvSpPr/>
          <p:nvPr/>
        </p:nvSpPr>
        <p:spPr>
          <a:xfrm>
            <a:off x="457200" y="4261104"/>
            <a:ext cx="164592" cy="164592"/>
          </a:xfrm>
          <a:prstGeom prst="ellipse">
            <a:avLst/>
          </a:prstGeom>
          <a:solidFill>
            <a:srgbClr val="52B788"/>
          </a:solidFill>
          <a:ln w="12700">
            <a:solidFill>
              <a:srgbClr val="52B788"/>
            </a:solidFill>
            <a:prstDash val="solid"/>
          </a:ln>
        </p:spPr>
        <p:txBody>
          <a:bodyPr/>
          <a:lstStyle/>
          <a:p>
            <a:endParaRPr lang="en-US"/>
          </a:p>
        </p:txBody>
      </p:sp>
      <p:sp>
        <p:nvSpPr>
          <p:cNvPr id="21" name="Text 19"/>
          <p:cNvSpPr txBox="1"/>
          <p:nvPr/>
        </p:nvSpPr>
        <p:spPr>
          <a:xfrm>
            <a:off x="694944" y="4132608"/>
            <a:ext cx="2240280" cy="457200"/>
          </a:xfrm>
          <a:prstGeom prst="rect">
            <a:avLst/>
          </a:prstGeom>
          <a:noFill/>
          <a:ln/>
        </p:spPr>
        <p:txBody>
          <a:bodyPr wrap="square" lIns="0" tIns="0" rIns="0" bIns="0" rtlCol="0" anchor="ctr"/>
          <a:lstStyle/>
          <a:p>
            <a:pPr marL="0" indent="0">
              <a:buNone/>
            </a:pPr>
            <a:r>
              <a:rPr lang="en-US" sz="900">
                <a:solidFill>
                  <a:srgbClr val="0F1923"/>
                </a:solidFill>
                <a:latin typeface="Calibri" pitchFamily="34" charset="0"/>
                <a:ea typeface="Calibri" pitchFamily="34" charset="-122"/>
                <a:cs typeface="Calibri" pitchFamily="34" charset="-120"/>
              </a:rPr>
              <a:t>Conversational refinement</a:t>
            </a:r>
            <a:endParaRPr lang="en-US" sz="900"/>
          </a:p>
          <a:p>
            <a:pPr marL="0" indent="0">
              <a:buNone/>
            </a:pPr>
            <a:r>
              <a:rPr lang="en-US" sz="900">
                <a:solidFill>
                  <a:srgbClr val="0F1923"/>
                </a:solidFill>
                <a:latin typeface="Calibri" pitchFamily="34" charset="0"/>
                <a:ea typeface="Calibri" pitchFamily="34" charset="-122"/>
                <a:cs typeface="Calibri" pitchFamily="34" charset="-120"/>
              </a:rPr>
              <a:t>(no constraint loss mid-session)</a:t>
            </a:r>
            <a:endParaRPr lang="en-US" sz="900"/>
          </a:p>
        </p:txBody>
      </p:sp>
      <p:sp>
        <p:nvSpPr>
          <p:cNvPr id="22" name="Shape 20"/>
          <p:cNvSpPr/>
          <p:nvPr/>
        </p:nvSpPr>
        <p:spPr>
          <a:xfrm>
            <a:off x="3291840" y="1719072"/>
            <a:ext cx="109728" cy="402336"/>
          </a:xfrm>
          <a:prstGeom prst="rect">
            <a:avLst/>
          </a:prstGeom>
          <a:solidFill>
            <a:srgbClr val="E8785A"/>
          </a:solidFill>
          <a:ln w="12700">
            <a:solidFill>
              <a:srgbClr val="E8785A"/>
            </a:solidFill>
            <a:prstDash val="solid"/>
          </a:ln>
        </p:spPr>
        <p:txBody>
          <a:bodyPr/>
          <a:lstStyle/>
          <a:p>
            <a:endParaRPr lang="en-US"/>
          </a:p>
        </p:txBody>
      </p:sp>
      <p:sp>
        <p:nvSpPr>
          <p:cNvPr id="23" name="Text 21"/>
          <p:cNvSpPr txBox="1"/>
          <p:nvPr/>
        </p:nvSpPr>
        <p:spPr>
          <a:xfrm>
            <a:off x="3493008" y="1682496"/>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OCR accuracy</a:t>
            </a:r>
            <a:endParaRPr lang="en-US" sz="950"/>
          </a:p>
        </p:txBody>
      </p:sp>
      <p:sp>
        <p:nvSpPr>
          <p:cNvPr id="24" name="Text 22"/>
          <p:cNvSpPr txBox="1"/>
          <p:nvPr/>
        </p:nvSpPr>
        <p:spPr>
          <a:xfrm>
            <a:off x="3493008" y="1883664"/>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Handwritten or low-res receipts may fail extraction.</a:t>
            </a:r>
            <a:endParaRPr lang="en-US" sz="850"/>
          </a:p>
        </p:txBody>
      </p:sp>
      <p:sp>
        <p:nvSpPr>
          <p:cNvPr id="25" name="Shape 23"/>
          <p:cNvSpPr/>
          <p:nvPr/>
        </p:nvSpPr>
        <p:spPr>
          <a:xfrm>
            <a:off x="3291840" y="2423160"/>
            <a:ext cx="109728" cy="402336"/>
          </a:xfrm>
          <a:prstGeom prst="rect">
            <a:avLst/>
          </a:prstGeom>
          <a:solidFill>
            <a:srgbClr val="E8785A"/>
          </a:solidFill>
          <a:ln w="12700">
            <a:solidFill>
              <a:srgbClr val="E8785A"/>
            </a:solidFill>
            <a:prstDash val="solid"/>
          </a:ln>
        </p:spPr>
        <p:txBody>
          <a:bodyPr/>
          <a:lstStyle/>
          <a:p>
            <a:endParaRPr lang="en-US"/>
          </a:p>
        </p:txBody>
      </p:sp>
      <p:sp>
        <p:nvSpPr>
          <p:cNvPr id="26" name="Text 24"/>
          <p:cNvSpPr txBox="1"/>
          <p:nvPr/>
        </p:nvSpPr>
        <p:spPr>
          <a:xfrm>
            <a:off x="3493008" y="2386584"/>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Substitution reasoning</a:t>
            </a:r>
            <a:endParaRPr lang="en-US" sz="950"/>
          </a:p>
        </p:txBody>
      </p:sp>
      <p:sp>
        <p:nvSpPr>
          <p:cNvPr id="27" name="Text 25"/>
          <p:cNvSpPr txBox="1"/>
          <p:nvPr/>
        </p:nvSpPr>
        <p:spPr>
          <a:xfrm>
            <a:off x="3493008" y="2587752"/>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LLM may over- or under-substitute missing ingredients.</a:t>
            </a:r>
            <a:endParaRPr lang="en-US" sz="850"/>
          </a:p>
        </p:txBody>
      </p:sp>
      <p:sp>
        <p:nvSpPr>
          <p:cNvPr id="28" name="Shape 26"/>
          <p:cNvSpPr/>
          <p:nvPr/>
        </p:nvSpPr>
        <p:spPr>
          <a:xfrm>
            <a:off x="3291840" y="3127248"/>
            <a:ext cx="109728" cy="402336"/>
          </a:xfrm>
          <a:prstGeom prst="rect">
            <a:avLst/>
          </a:prstGeom>
          <a:solidFill>
            <a:srgbClr val="E8785A"/>
          </a:solidFill>
          <a:ln w="12700">
            <a:solidFill>
              <a:srgbClr val="E8785A"/>
            </a:solidFill>
            <a:prstDash val="solid"/>
          </a:ln>
        </p:spPr>
        <p:txBody>
          <a:bodyPr/>
          <a:lstStyle/>
          <a:p>
            <a:endParaRPr lang="en-US"/>
          </a:p>
        </p:txBody>
      </p:sp>
      <p:sp>
        <p:nvSpPr>
          <p:cNvPr id="29" name="Text 27"/>
          <p:cNvSpPr txBox="1"/>
          <p:nvPr/>
        </p:nvSpPr>
        <p:spPr>
          <a:xfrm>
            <a:off x="3493008" y="3090672"/>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Constraint drift</a:t>
            </a:r>
            <a:endParaRPr lang="en-US" sz="950"/>
          </a:p>
        </p:txBody>
      </p:sp>
      <p:sp>
        <p:nvSpPr>
          <p:cNvPr id="30" name="Text 28"/>
          <p:cNvSpPr txBox="1"/>
          <p:nvPr/>
        </p:nvSpPr>
        <p:spPr>
          <a:xfrm>
            <a:off x="3493008" y="3291840"/>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Agent may drop earlier constraints across a long conversation.</a:t>
            </a:r>
            <a:endParaRPr lang="en-US" sz="850"/>
          </a:p>
        </p:txBody>
      </p:sp>
      <p:sp>
        <p:nvSpPr>
          <p:cNvPr id="31" name="Shape 29"/>
          <p:cNvSpPr/>
          <p:nvPr/>
        </p:nvSpPr>
        <p:spPr>
          <a:xfrm>
            <a:off x="3291840" y="3831336"/>
            <a:ext cx="109728" cy="402336"/>
          </a:xfrm>
          <a:prstGeom prst="rect">
            <a:avLst/>
          </a:prstGeom>
          <a:solidFill>
            <a:srgbClr val="E8785A"/>
          </a:solidFill>
          <a:ln w="12700">
            <a:solidFill>
              <a:srgbClr val="E8785A"/>
            </a:solidFill>
            <a:prstDash val="solid"/>
          </a:ln>
        </p:spPr>
        <p:txBody>
          <a:bodyPr/>
          <a:lstStyle/>
          <a:p>
            <a:endParaRPr lang="en-US"/>
          </a:p>
        </p:txBody>
      </p:sp>
      <p:sp>
        <p:nvSpPr>
          <p:cNvPr id="32" name="Text 30"/>
          <p:cNvSpPr txBox="1"/>
          <p:nvPr/>
        </p:nvSpPr>
        <p:spPr>
          <a:xfrm>
            <a:off x="3493008" y="3794760"/>
            <a:ext cx="2240280" cy="219456"/>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Inventory staleness</a:t>
            </a:r>
            <a:endParaRPr lang="en-US" sz="950"/>
          </a:p>
        </p:txBody>
      </p:sp>
      <p:sp>
        <p:nvSpPr>
          <p:cNvPr id="33" name="Text 31"/>
          <p:cNvSpPr txBox="1"/>
          <p:nvPr/>
        </p:nvSpPr>
        <p:spPr>
          <a:xfrm>
            <a:off x="3493008" y="3995928"/>
            <a:ext cx="2240280" cy="384048"/>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No auto-expiry — user must manually update used items.</a:t>
            </a:r>
            <a:endParaRPr lang="en-US" sz="850"/>
          </a:p>
        </p:txBody>
      </p:sp>
      <p:sp>
        <p:nvSpPr>
          <p:cNvPr id="34" name="Shape 32"/>
          <p:cNvSpPr/>
          <p:nvPr/>
        </p:nvSpPr>
        <p:spPr>
          <a:xfrm>
            <a:off x="6035040" y="1664208"/>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35" name="Text 33"/>
          <p:cNvSpPr txBox="1"/>
          <p:nvPr/>
        </p:nvSpPr>
        <p:spPr>
          <a:xfrm>
            <a:off x="6172200" y="1700784"/>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Week 1</a:t>
            </a:r>
            <a:endParaRPr lang="en-US" sz="850"/>
          </a:p>
        </p:txBody>
      </p:sp>
      <p:sp>
        <p:nvSpPr>
          <p:cNvPr id="36" name="Text 34"/>
          <p:cNvSpPr txBox="1"/>
          <p:nvPr/>
        </p:nvSpPr>
        <p:spPr>
          <a:xfrm>
            <a:off x="6172200" y="1883664"/>
            <a:ext cx="2331720" cy="402336"/>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Implement receipt OCR pipeline and SQLite inventory store.</a:t>
            </a:r>
            <a:endParaRPr lang="en-US" sz="850"/>
          </a:p>
        </p:txBody>
      </p:sp>
      <p:sp>
        <p:nvSpPr>
          <p:cNvPr id="37" name="Shape 35"/>
          <p:cNvSpPr/>
          <p:nvPr/>
        </p:nvSpPr>
        <p:spPr>
          <a:xfrm>
            <a:off x="6035040" y="2414016"/>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38" name="Text 36"/>
          <p:cNvSpPr txBox="1"/>
          <p:nvPr/>
        </p:nvSpPr>
        <p:spPr>
          <a:xfrm>
            <a:off x="6172200" y="2450592"/>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Week 2</a:t>
            </a:r>
            <a:endParaRPr lang="en-US" sz="850"/>
          </a:p>
        </p:txBody>
      </p:sp>
      <p:sp>
        <p:nvSpPr>
          <p:cNvPr id="39" name="Text 37"/>
          <p:cNvSpPr txBox="1"/>
          <p:nvPr/>
        </p:nvSpPr>
        <p:spPr>
          <a:xfrm>
            <a:off x="6172200" y="2633472"/>
            <a:ext cx="2331720" cy="402336"/>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Build constraint-aware recipe retrieval and ingredient checker.</a:t>
            </a:r>
            <a:endParaRPr lang="en-US" sz="850"/>
          </a:p>
        </p:txBody>
      </p:sp>
      <p:sp>
        <p:nvSpPr>
          <p:cNvPr id="40" name="Shape 38"/>
          <p:cNvSpPr/>
          <p:nvPr/>
        </p:nvSpPr>
        <p:spPr>
          <a:xfrm>
            <a:off x="6035040" y="3163824"/>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41" name="Text 39"/>
          <p:cNvSpPr txBox="1"/>
          <p:nvPr/>
        </p:nvSpPr>
        <p:spPr>
          <a:xfrm>
            <a:off x="6172200" y="3200400"/>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Week 3</a:t>
            </a:r>
            <a:endParaRPr lang="en-US" sz="850"/>
          </a:p>
        </p:txBody>
      </p:sp>
      <p:sp>
        <p:nvSpPr>
          <p:cNvPr id="42" name="Text 40"/>
          <p:cNvSpPr txBox="1"/>
          <p:nvPr/>
        </p:nvSpPr>
        <p:spPr>
          <a:xfrm>
            <a:off x="6172200" y="3383280"/>
            <a:ext cx="2331720" cy="402336"/>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Run 6 core agent test cases; document pass/fail results.</a:t>
            </a:r>
            <a:endParaRPr lang="en-US" sz="850"/>
          </a:p>
        </p:txBody>
      </p:sp>
      <p:sp>
        <p:nvSpPr>
          <p:cNvPr id="43" name="Shape 41"/>
          <p:cNvSpPr/>
          <p:nvPr/>
        </p:nvSpPr>
        <p:spPr>
          <a:xfrm>
            <a:off x="6035040" y="3913632"/>
            <a:ext cx="2606040" cy="658368"/>
          </a:xfrm>
          <a:prstGeom prst="roundRect">
            <a:avLst>
              <a:gd name="adj" fmla="val 8333"/>
            </a:avLst>
          </a:prstGeom>
          <a:solidFill>
            <a:srgbClr val="F2F4F7"/>
          </a:solidFill>
          <a:ln w="12700">
            <a:solidFill>
              <a:srgbClr val="E2E6EA"/>
            </a:solidFill>
            <a:prstDash val="solid"/>
          </a:ln>
        </p:spPr>
        <p:txBody>
          <a:bodyPr/>
          <a:lstStyle/>
          <a:p>
            <a:endParaRPr lang="en-US"/>
          </a:p>
        </p:txBody>
      </p:sp>
      <p:sp>
        <p:nvSpPr>
          <p:cNvPr id="44" name="Text 42"/>
          <p:cNvSpPr txBox="1"/>
          <p:nvPr/>
        </p:nvSpPr>
        <p:spPr>
          <a:xfrm>
            <a:off x="6172200" y="3950208"/>
            <a:ext cx="2331720" cy="201168"/>
          </a:xfrm>
          <a:prstGeom prst="rect">
            <a:avLst/>
          </a:prstGeom>
          <a:noFill/>
          <a:ln/>
        </p:spPr>
        <p:txBody>
          <a:bodyPr wrap="square" lIns="0" tIns="0" rIns="0" bIns="0" rtlCol="0" anchor="ctr"/>
          <a:lstStyle/>
          <a:p>
            <a:pPr marL="0" indent="0">
              <a:buNone/>
            </a:pPr>
            <a:r>
              <a:rPr lang="en-US" sz="850" b="1">
                <a:solidFill>
                  <a:srgbClr val="1A5276"/>
                </a:solidFill>
                <a:latin typeface="Calibri" pitchFamily="34" charset="0"/>
                <a:ea typeface="Calibri" pitchFamily="34" charset="-122"/>
                <a:cs typeface="Calibri" pitchFamily="34" charset="-120"/>
              </a:rPr>
              <a:t>Checkpoint 2</a:t>
            </a:r>
            <a:endParaRPr lang="en-US" sz="850"/>
          </a:p>
        </p:txBody>
      </p:sp>
      <p:sp>
        <p:nvSpPr>
          <p:cNvPr id="45" name="Text 43"/>
          <p:cNvSpPr txBox="1"/>
          <p:nvPr/>
        </p:nvSpPr>
        <p:spPr>
          <a:xfrm>
            <a:off x="6172200" y="4133088"/>
            <a:ext cx="2331720" cy="402336"/>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Submit agent validation report + working prototype demo.</a:t>
            </a:r>
            <a:endParaRPr lang="en-US" sz="850"/>
          </a:p>
        </p:txBody>
      </p:sp>
      <p:sp>
        <p:nvSpPr>
          <p:cNvPr id="46" name="Shape 44"/>
          <p:cNvSpPr/>
          <p:nvPr/>
        </p:nvSpPr>
        <p:spPr>
          <a:xfrm>
            <a:off x="365760" y="4617720"/>
            <a:ext cx="8412480" cy="292608"/>
          </a:xfrm>
          <a:prstGeom prst="roundRect">
            <a:avLst>
              <a:gd name="adj" fmla="val 21875"/>
            </a:avLst>
          </a:prstGeom>
          <a:solidFill>
            <a:srgbClr val="2D6A4F"/>
          </a:solidFill>
          <a:ln w="12700">
            <a:solidFill>
              <a:srgbClr val="2D6A4F"/>
            </a:solidFill>
            <a:prstDash val="solid"/>
          </a:ln>
        </p:spPr>
        <p:txBody>
          <a:bodyPr/>
          <a:lstStyle/>
          <a:p>
            <a:endParaRPr lang="en-US"/>
          </a:p>
        </p:txBody>
      </p:sp>
      <p:sp>
        <p:nvSpPr>
          <p:cNvPr id="47" name="Text 45"/>
          <p:cNvSpPr txBox="1"/>
          <p:nvPr/>
        </p:nvSpPr>
        <p:spPr>
          <a:xfrm>
            <a:off x="566928" y="4654296"/>
            <a:ext cx="8046720" cy="219456"/>
          </a:xfrm>
          <a:prstGeom prst="rect">
            <a:avLst/>
          </a:prstGeom>
          <a:noFill/>
          <a:ln/>
        </p:spPr>
        <p:txBody>
          <a:bodyPr wrap="square" lIns="0" tIns="0" rIns="0" bIns="0" rtlCol="0" anchor="ctr"/>
          <a:lstStyle/>
          <a:p>
            <a:pPr marL="0" indent="0">
              <a:buNone/>
            </a:pPr>
            <a:r>
              <a:rPr lang="en-US" sz="850">
                <a:solidFill>
                  <a:srgbClr val="FFFFFF"/>
                </a:solidFill>
                <a:latin typeface="Calibri" pitchFamily="34" charset="0"/>
                <a:ea typeface="Calibri" pitchFamily="34" charset="-122"/>
                <a:cs typeface="Calibri" pitchFamily="34" charset="-120"/>
              </a:rPr>
              <a:t>Key question: Can AI Chef reliably distinguish a missing ingredient that changes feasibility from one that can be omitted or substituted?</a:t>
            </a:r>
            <a:endParaRPr lang="en-US" sz="850"/>
          </a:p>
        </p:txBody>
      </p:sp>
      <p:sp>
        <p:nvSpPr>
          <p:cNvPr id="48" name="Text 46"/>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49" name="Text 47"/>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7</a:t>
            </a:r>
            <a:endParaRPr lang="en-US"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9144000" cy="502920"/>
          </a:xfrm>
          <a:prstGeom prst="rect">
            <a:avLst/>
          </a:prstGeom>
          <a:solidFill>
            <a:srgbClr val="2D6A4F"/>
          </a:solidFill>
          <a:ln w="12700">
            <a:solidFill>
              <a:srgbClr val="2D6A4F"/>
            </a:solidFill>
            <a:prstDash val="solid"/>
          </a:ln>
        </p:spPr>
        <p:txBody>
          <a:bodyPr/>
          <a:lstStyle/>
          <a:p>
            <a:endParaRPr lang="en-US"/>
          </a:p>
        </p:txBody>
      </p:sp>
      <p:sp>
        <p:nvSpPr>
          <p:cNvPr id="4" name="Text 2"/>
          <p:cNvSpPr txBox="1"/>
          <p:nvPr/>
        </p:nvSpPr>
        <p:spPr>
          <a:xfrm>
            <a:off x="365760" y="91440"/>
            <a:ext cx="7315200" cy="320040"/>
          </a:xfrm>
          <a:prstGeom prst="rect">
            <a:avLst/>
          </a:prstGeom>
          <a:noFill/>
          <a:ln/>
        </p:spPr>
        <p:txBody>
          <a:bodyPr wrap="square" lIns="0" tIns="0" rIns="0" bIns="0" rtlCol="0" anchor="ctr"/>
          <a:lstStyle/>
          <a:p>
            <a:pPr marL="0" indent="0">
              <a:buNone/>
            </a:pPr>
            <a:r>
              <a:rPr lang="en-US" sz="1100" b="1">
                <a:solidFill>
                  <a:srgbClr val="B7E4C7"/>
                </a:solidFill>
                <a:latin typeface="Calibri" pitchFamily="34" charset="0"/>
                <a:ea typeface="Calibri" pitchFamily="34" charset="-122"/>
                <a:cs typeface="Calibri" pitchFamily="34" charset="-120"/>
              </a:rPr>
              <a:t>INITIAL CONCEPT</a:t>
            </a:r>
            <a:endParaRPr lang="en-US" sz="1100"/>
          </a:p>
        </p:txBody>
      </p:sp>
      <p:sp>
        <p:nvSpPr>
          <p:cNvPr id="5" name="Text 3"/>
          <p:cNvSpPr txBox="1"/>
          <p:nvPr/>
        </p:nvSpPr>
        <p:spPr>
          <a:xfrm>
            <a:off x="365760" y="658368"/>
            <a:ext cx="8412480" cy="502920"/>
          </a:xfrm>
          <a:prstGeom prst="rect">
            <a:avLst/>
          </a:prstGeom>
          <a:noFill/>
          <a:ln/>
        </p:spPr>
        <p:txBody>
          <a:bodyPr wrap="square" lIns="0" tIns="0" rIns="0" bIns="0" rtlCol="0" anchor="ctr"/>
          <a:lstStyle/>
          <a:p>
            <a:pPr marL="0" indent="0">
              <a:buNone/>
            </a:pPr>
            <a:r>
              <a:rPr lang="en-US" sz="2600" b="1">
                <a:solidFill>
                  <a:srgbClr val="0F1923"/>
                </a:solidFill>
                <a:latin typeface="Calibri" pitchFamily="34" charset="0"/>
                <a:ea typeface="Calibri" pitchFamily="34" charset="-122"/>
                <a:cs typeface="Calibri" pitchFamily="34" charset="-120"/>
              </a:rPr>
              <a:t>AI Chef + Functional GenAI: System Flow</a:t>
            </a:r>
            <a:endParaRPr lang="en-US" sz="2600"/>
          </a:p>
        </p:txBody>
      </p:sp>
      <p:sp>
        <p:nvSpPr>
          <p:cNvPr id="6" name="Shape 4"/>
          <p:cNvSpPr/>
          <p:nvPr/>
        </p:nvSpPr>
        <p:spPr>
          <a:xfrm>
            <a:off x="365760"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7" name="Shape 5"/>
          <p:cNvSpPr/>
          <p:nvPr/>
        </p:nvSpPr>
        <p:spPr>
          <a:xfrm>
            <a:off x="530352"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8" name="Text 6"/>
          <p:cNvSpPr txBox="1"/>
          <p:nvPr/>
        </p:nvSpPr>
        <p:spPr>
          <a:xfrm>
            <a:off x="530352"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1</a:t>
            </a:r>
            <a:endParaRPr lang="en-US" sz="1000"/>
          </a:p>
        </p:txBody>
      </p:sp>
      <p:sp>
        <p:nvSpPr>
          <p:cNvPr id="9" name="Text 7"/>
          <p:cNvSpPr txBox="1"/>
          <p:nvPr/>
        </p:nvSpPr>
        <p:spPr>
          <a:xfrm>
            <a:off x="475488"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Upload Receipt</a:t>
            </a:r>
            <a:endParaRPr lang="en-US" sz="950"/>
          </a:p>
        </p:txBody>
      </p:sp>
      <p:sp>
        <p:nvSpPr>
          <p:cNvPr id="10" name="Text 8"/>
          <p:cNvSpPr txBox="1"/>
          <p:nvPr/>
        </p:nvSpPr>
        <p:spPr>
          <a:xfrm>
            <a:off x="475488"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Vision/OCR extracts item names, quantities, and units from photos or order screenshots.</a:t>
            </a:r>
            <a:endParaRPr lang="en-US" sz="850"/>
          </a:p>
        </p:txBody>
      </p:sp>
      <p:sp>
        <p:nvSpPr>
          <p:cNvPr id="11" name="Shape 9"/>
          <p:cNvSpPr/>
          <p:nvPr/>
        </p:nvSpPr>
        <p:spPr>
          <a:xfrm>
            <a:off x="2304288" y="1828800"/>
            <a:ext cx="164592" cy="36576"/>
          </a:xfrm>
          <a:prstGeom prst="rect">
            <a:avLst/>
          </a:prstGeom>
          <a:solidFill>
            <a:srgbClr val="52B788"/>
          </a:solidFill>
          <a:ln w="12700">
            <a:solidFill>
              <a:srgbClr val="52B788"/>
            </a:solidFill>
            <a:prstDash val="solid"/>
          </a:ln>
        </p:spPr>
        <p:txBody>
          <a:bodyPr/>
          <a:lstStyle/>
          <a:p>
            <a:endParaRPr lang="en-US"/>
          </a:p>
        </p:txBody>
      </p:sp>
      <p:sp>
        <p:nvSpPr>
          <p:cNvPr id="12" name="Shape 10"/>
          <p:cNvSpPr/>
          <p:nvPr/>
        </p:nvSpPr>
        <p:spPr>
          <a:xfrm>
            <a:off x="2487168"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13" name="Shape 11"/>
          <p:cNvSpPr/>
          <p:nvPr/>
        </p:nvSpPr>
        <p:spPr>
          <a:xfrm>
            <a:off x="2651760"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14" name="Text 12"/>
          <p:cNvSpPr txBox="1"/>
          <p:nvPr/>
        </p:nvSpPr>
        <p:spPr>
          <a:xfrm>
            <a:off x="2651760"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2</a:t>
            </a:r>
            <a:endParaRPr lang="en-US" sz="1000"/>
          </a:p>
        </p:txBody>
      </p:sp>
      <p:sp>
        <p:nvSpPr>
          <p:cNvPr id="15" name="Text 13"/>
          <p:cNvSpPr txBox="1"/>
          <p:nvPr/>
        </p:nvSpPr>
        <p:spPr>
          <a:xfrm>
            <a:off x="2596896"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Confirm Inventory</a:t>
            </a:r>
            <a:endParaRPr lang="en-US" sz="950"/>
          </a:p>
        </p:txBody>
      </p:sp>
      <p:sp>
        <p:nvSpPr>
          <p:cNvPr id="16" name="Text 14"/>
          <p:cNvSpPr txBox="1"/>
          <p:nvPr/>
        </p:nvSpPr>
        <p:spPr>
          <a:xfrm>
            <a:off x="2596896"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User reviews and corrects extracted items. Confirmed inventory saved to SQLite.</a:t>
            </a:r>
            <a:endParaRPr lang="en-US" sz="850"/>
          </a:p>
        </p:txBody>
      </p:sp>
      <p:sp>
        <p:nvSpPr>
          <p:cNvPr id="17" name="Shape 15"/>
          <p:cNvSpPr/>
          <p:nvPr/>
        </p:nvSpPr>
        <p:spPr>
          <a:xfrm>
            <a:off x="4425696" y="1828800"/>
            <a:ext cx="164592" cy="36576"/>
          </a:xfrm>
          <a:prstGeom prst="rect">
            <a:avLst/>
          </a:prstGeom>
          <a:solidFill>
            <a:srgbClr val="52B788"/>
          </a:solidFill>
          <a:ln w="12700">
            <a:solidFill>
              <a:srgbClr val="52B788"/>
            </a:solidFill>
            <a:prstDash val="solid"/>
          </a:ln>
        </p:spPr>
        <p:txBody>
          <a:bodyPr/>
          <a:lstStyle/>
          <a:p>
            <a:endParaRPr lang="en-US"/>
          </a:p>
        </p:txBody>
      </p:sp>
      <p:sp>
        <p:nvSpPr>
          <p:cNvPr id="18" name="Shape 16"/>
          <p:cNvSpPr/>
          <p:nvPr/>
        </p:nvSpPr>
        <p:spPr>
          <a:xfrm>
            <a:off x="4608576"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19" name="Shape 17"/>
          <p:cNvSpPr/>
          <p:nvPr/>
        </p:nvSpPr>
        <p:spPr>
          <a:xfrm>
            <a:off x="4773168"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20" name="Text 18"/>
          <p:cNvSpPr txBox="1"/>
          <p:nvPr/>
        </p:nvSpPr>
        <p:spPr>
          <a:xfrm>
            <a:off x="4773168"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3</a:t>
            </a:r>
            <a:endParaRPr lang="en-US" sz="1000"/>
          </a:p>
        </p:txBody>
      </p:sp>
      <p:sp>
        <p:nvSpPr>
          <p:cNvPr id="21" name="Text 19"/>
          <p:cNvSpPr txBox="1"/>
          <p:nvPr/>
        </p:nvSpPr>
        <p:spPr>
          <a:xfrm>
            <a:off x="4718304"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Request a Meal</a:t>
            </a:r>
            <a:endParaRPr lang="en-US" sz="950"/>
          </a:p>
        </p:txBody>
      </p:sp>
      <p:sp>
        <p:nvSpPr>
          <p:cNvPr id="22" name="Text 20"/>
          <p:cNvSpPr txBox="1"/>
          <p:nvPr/>
        </p:nvSpPr>
        <p:spPr>
          <a:xfrm>
            <a:off x="4718304"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e.g. "High protein, vegetarian, under 20 minutes." Natural language.</a:t>
            </a:r>
            <a:endParaRPr lang="en-US" sz="850"/>
          </a:p>
        </p:txBody>
      </p:sp>
      <p:sp>
        <p:nvSpPr>
          <p:cNvPr id="23" name="Shape 21"/>
          <p:cNvSpPr/>
          <p:nvPr/>
        </p:nvSpPr>
        <p:spPr>
          <a:xfrm>
            <a:off x="6547104" y="1828800"/>
            <a:ext cx="164592" cy="36576"/>
          </a:xfrm>
          <a:prstGeom prst="rect">
            <a:avLst/>
          </a:prstGeom>
          <a:solidFill>
            <a:srgbClr val="52B788"/>
          </a:solidFill>
          <a:ln w="12700">
            <a:solidFill>
              <a:srgbClr val="52B788"/>
            </a:solidFill>
            <a:prstDash val="solid"/>
          </a:ln>
        </p:spPr>
        <p:txBody>
          <a:bodyPr/>
          <a:lstStyle/>
          <a:p>
            <a:endParaRPr lang="en-US"/>
          </a:p>
        </p:txBody>
      </p:sp>
      <p:sp>
        <p:nvSpPr>
          <p:cNvPr id="24" name="Shape 22"/>
          <p:cNvSpPr/>
          <p:nvPr/>
        </p:nvSpPr>
        <p:spPr>
          <a:xfrm>
            <a:off x="6729984" y="1325880"/>
            <a:ext cx="1920240" cy="1508760"/>
          </a:xfrm>
          <a:prstGeom prst="roundRect">
            <a:avLst>
              <a:gd name="adj" fmla="val 4848"/>
            </a:avLst>
          </a:prstGeom>
          <a:solidFill>
            <a:srgbClr val="F2F4F7"/>
          </a:solidFill>
          <a:ln w="12700">
            <a:solidFill>
              <a:srgbClr val="E2E6EA"/>
            </a:solidFill>
            <a:prstDash val="solid"/>
          </a:ln>
        </p:spPr>
        <p:txBody>
          <a:bodyPr/>
          <a:lstStyle/>
          <a:p>
            <a:endParaRPr lang="en-US"/>
          </a:p>
        </p:txBody>
      </p:sp>
      <p:sp>
        <p:nvSpPr>
          <p:cNvPr id="25" name="Shape 23"/>
          <p:cNvSpPr/>
          <p:nvPr/>
        </p:nvSpPr>
        <p:spPr>
          <a:xfrm>
            <a:off x="6894576" y="1463040"/>
            <a:ext cx="347472" cy="347472"/>
          </a:xfrm>
          <a:prstGeom prst="ellipse">
            <a:avLst/>
          </a:prstGeom>
          <a:solidFill>
            <a:srgbClr val="2D6A4F"/>
          </a:solidFill>
          <a:ln w="12700">
            <a:solidFill>
              <a:srgbClr val="2D6A4F"/>
            </a:solidFill>
            <a:prstDash val="solid"/>
          </a:ln>
        </p:spPr>
        <p:txBody>
          <a:bodyPr/>
          <a:lstStyle/>
          <a:p>
            <a:endParaRPr lang="en-US"/>
          </a:p>
        </p:txBody>
      </p:sp>
      <p:sp>
        <p:nvSpPr>
          <p:cNvPr id="26" name="Text 24"/>
          <p:cNvSpPr txBox="1"/>
          <p:nvPr/>
        </p:nvSpPr>
        <p:spPr>
          <a:xfrm>
            <a:off x="6894576" y="1463040"/>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4</a:t>
            </a:r>
            <a:endParaRPr lang="en-US" sz="1000"/>
          </a:p>
        </p:txBody>
      </p:sp>
      <p:sp>
        <p:nvSpPr>
          <p:cNvPr id="27" name="Text 25"/>
          <p:cNvSpPr txBox="1"/>
          <p:nvPr/>
        </p:nvSpPr>
        <p:spPr>
          <a:xfrm>
            <a:off x="6839712" y="1874520"/>
            <a:ext cx="1700784" cy="274320"/>
          </a:xfrm>
          <a:prstGeom prst="rect">
            <a:avLst/>
          </a:prstGeom>
          <a:noFill/>
          <a:ln/>
        </p:spPr>
        <p:txBody>
          <a:bodyPr wrap="square" lIns="0" tIns="0" rIns="0" bIns="0" rtlCol="0" anchor="ctr"/>
          <a:lstStyle/>
          <a:p>
            <a:pPr marL="0" indent="0">
              <a:buNone/>
            </a:pPr>
            <a:r>
              <a:rPr lang="en-US" sz="950" b="1">
                <a:solidFill>
                  <a:srgbClr val="0F1923"/>
                </a:solidFill>
                <a:latin typeface="Calibri" pitchFamily="34" charset="0"/>
                <a:ea typeface="Calibri" pitchFamily="34" charset="-122"/>
                <a:cs typeface="Calibri" pitchFamily="34" charset="-120"/>
              </a:rPr>
              <a:t>AI Proposes Recipes</a:t>
            </a:r>
            <a:endParaRPr lang="en-US" sz="950"/>
          </a:p>
        </p:txBody>
      </p:sp>
      <p:sp>
        <p:nvSpPr>
          <p:cNvPr id="28" name="Text 26"/>
          <p:cNvSpPr txBox="1"/>
          <p:nvPr/>
        </p:nvSpPr>
        <p:spPr>
          <a:xfrm>
            <a:off x="6839712" y="2167128"/>
            <a:ext cx="1700784" cy="59436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Agent uses confirmed inventory and constraints to suggest feasible options.</a:t>
            </a:r>
            <a:endParaRPr lang="en-US" sz="850"/>
          </a:p>
        </p:txBody>
      </p:sp>
      <p:sp>
        <p:nvSpPr>
          <p:cNvPr id="29" name="Shape 27"/>
          <p:cNvSpPr/>
          <p:nvPr/>
        </p:nvSpPr>
        <p:spPr>
          <a:xfrm>
            <a:off x="365760" y="2999232"/>
            <a:ext cx="2606040" cy="1554480"/>
          </a:xfrm>
          <a:prstGeom prst="roundRect">
            <a:avLst>
              <a:gd name="adj" fmla="val 4706"/>
            </a:avLst>
          </a:prstGeom>
          <a:solidFill>
            <a:srgbClr val="F2F4F7"/>
          </a:solidFill>
          <a:ln w="12700">
            <a:solidFill>
              <a:srgbClr val="E2E6EA"/>
            </a:solidFill>
            <a:prstDash val="solid"/>
          </a:ln>
        </p:spPr>
        <p:txBody>
          <a:bodyPr/>
          <a:lstStyle/>
          <a:p>
            <a:endParaRPr lang="en-US"/>
          </a:p>
        </p:txBody>
      </p:sp>
      <p:sp>
        <p:nvSpPr>
          <p:cNvPr id="30" name="Shape 28"/>
          <p:cNvSpPr/>
          <p:nvPr/>
        </p:nvSpPr>
        <p:spPr>
          <a:xfrm>
            <a:off x="530352" y="3136392"/>
            <a:ext cx="347472" cy="347472"/>
          </a:xfrm>
          <a:prstGeom prst="ellipse">
            <a:avLst/>
          </a:prstGeom>
          <a:solidFill>
            <a:srgbClr val="2D6A4F"/>
          </a:solidFill>
          <a:ln w="12700">
            <a:solidFill>
              <a:srgbClr val="2D6A4F"/>
            </a:solidFill>
            <a:prstDash val="solid"/>
          </a:ln>
        </p:spPr>
        <p:txBody>
          <a:bodyPr/>
          <a:lstStyle/>
          <a:p>
            <a:endParaRPr lang="en-US"/>
          </a:p>
        </p:txBody>
      </p:sp>
      <p:sp>
        <p:nvSpPr>
          <p:cNvPr id="31" name="Text 29"/>
          <p:cNvSpPr txBox="1"/>
          <p:nvPr/>
        </p:nvSpPr>
        <p:spPr>
          <a:xfrm>
            <a:off x="530352" y="3136392"/>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5</a:t>
            </a:r>
            <a:endParaRPr lang="en-US" sz="1000"/>
          </a:p>
        </p:txBody>
      </p:sp>
      <p:sp>
        <p:nvSpPr>
          <p:cNvPr id="32" name="Text 30"/>
          <p:cNvSpPr txBox="1"/>
          <p:nvPr/>
        </p:nvSpPr>
        <p:spPr>
          <a:xfrm>
            <a:off x="475488" y="3547872"/>
            <a:ext cx="2386584" cy="274320"/>
          </a:xfrm>
          <a:prstGeom prst="rect">
            <a:avLst/>
          </a:prstGeom>
          <a:noFill/>
          <a:ln/>
        </p:spPr>
        <p:txBody>
          <a:bodyPr wrap="square" lIns="0" tIns="0" rIns="0" bIns="0" rtlCol="0" anchor="ctr"/>
          <a:lstStyle/>
          <a:p>
            <a:pPr marL="0" indent="0">
              <a:buNone/>
            </a:pPr>
            <a:r>
              <a:rPr lang="en-US" sz="1000" b="1">
                <a:solidFill>
                  <a:srgbClr val="0F1923"/>
                </a:solidFill>
                <a:latin typeface="Calibri" pitchFamily="34" charset="0"/>
                <a:ea typeface="Calibri" pitchFamily="34" charset="-122"/>
                <a:cs typeface="Calibri" pitchFamily="34" charset="-120"/>
              </a:rPr>
              <a:t>Ingredient Check</a:t>
            </a:r>
            <a:endParaRPr lang="en-US" sz="1000"/>
          </a:p>
        </p:txBody>
      </p:sp>
      <p:sp>
        <p:nvSpPr>
          <p:cNvPr id="33" name="Text 31"/>
          <p:cNvSpPr txBox="1"/>
          <p:nvPr/>
        </p:nvSpPr>
        <p:spPr>
          <a:xfrm>
            <a:off x="475488" y="3867912"/>
            <a:ext cx="2386584" cy="64008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Checks required, optional, substitutable, and staple ingredients for selected recipe.</a:t>
            </a:r>
            <a:endParaRPr lang="en-US" sz="850"/>
          </a:p>
        </p:txBody>
      </p:sp>
      <p:sp>
        <p:nvSpPr>
          <p:cNvPr id="34" name="Shape 32"/>
          <p:cNvSpPr/>
          <p:nvPr/>
        </p:nvSpPr>
        <p:spPr>
          <a:xfrm>
            <a:off x="2990088" y="3502152"/>
            <a:ext cx="192024" cy="36576"/>
          </a:xfrm>
          <a:prstGeom prst="rect">
            <a:avLst/>
          </a:prstGeom>
          <a:solidFill>
            <a:srgbClr val="52B788"/>
          </a:solidFill>
          <a:ln w="12700">
            <a:solidFill>
              <a:srgbClr val="52B788"/>
            </a:solidFill>
            <a:prstDash val="solid"/>
          </a:ln>
        </p:spPr>
        <p:txBody>
          <a:bodyPr/>
          <a:lstStyle/>
          <a:p>
            <a:endParaRPr lang="en-US"/>
          </a:p>
        </p:txBody>
      </p:sp>
      <p:sp>
        <p:nvSpPr>
          <p:cNvPr id="35" name="Shape 33"/>
          <p:cNvSpPr/>
          <p:nvPr/>
        </p:nvSpPr>
        <p:spPr>
          <a:xfrm>
            <a:off x="3200400" y="2999232"/>
            <a:ext cx="2606040" cy="1554480"/>
          </a:xfrm>
          <a:prstGeom prst="roundRect">
            <a:avLst>
              <a:gd name="adj" fmla="val 4706"/>
            </a:avLst>
          </a:prstGeom>
          <a:solidFill>
            <a:srgbClr val="F2F4F7"/>
          </a:solidFill>
          <a:ln w="12700">
            <a:solidFill>
              <a:srgbClr val="E2E6EA"/>
            </a:solidFill>
            <a:prstDash val="solid"/>
          </a:ln>
        </p:spPr>
        <p:txBody>
          <a:bodyPr/>
          <a:lstStyle/>
          <a:p>
            <a:endParaRPr lang="en-US"/>
          </a:p>
        </p:txBody>
      </p:sp>
      <p:sp>
        <p:nvSpPr>
          <p:cNvPr id="36" name="Shape 34"/>
          <p:cNvSpPr/>
          <p:nvPr/>
        </p:nvSpPr>
        <p:spPr>
          <a:xfrm>
            <a:off x="3364992" y="3136392"/>
            <a:ext cx="347472" cy="347472"/>
          </a:xfrm>
          <a:prstGeom prst="ellipse">
            <a:avLst/>
          </a:prstGeom>
          <a:solidFill>
            <a:srgbClr val="2D6A4F"/>
          </a:solidFill>
          <a:ln w="12700">
            <a:solidFill>
              <a:srgbClr val="2D6A4F"/>
            </a:solidFill>
            <a:prstDash val="solid"/>
          </a:ln>
        </p:spPr>
        <p:txBody>
          <a:bodyPr/>
          <a:lstStyle/>
          <a:p>
            <a:endParaRPr lang="en-US"/>
          </a:p>
        </p:txBody>
      </p:sp>
      <p:sp>
        <p:nvSpPr>
          <p:cNvPr id="37" name="Text 35"/>
          <p:cNvSpPr txBox="1"/>
          <p:nvPr/>
        </p:nvSpPr>
        <p:spPr>
          <a:xfrm>
            <a:off x="3364992" y="3136392"/>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6</a:t>
            </a:r>
            <a:endParaRPr lang="en-US" sz="1000"/>
          </a:p>
        </p:txBody>
      </p:sp>
      <p:sp>
        <p:nvSpPr>
          <p:cNvPr id="38" name="Text 36"/>
          <p:cNvSpPr txBox="1"/>
          <p:nvPr/>
        </p:nvSpPr>
        <p:spPr>
          <a:xfrm>
            <a:off x="3310128" y="3547872"/>
            <a:ext cx="2386584" cy="274320"/>
          </a:xfrm>
          <a:prstGeom prst="rect">
            <a:avLst/>
          </a:prstGeom>
          <a:noFill/>
          <a:ln/>
        </p:spPr>
        <p:txBody>
          <a:bodyPr wrap="square" lIns="0" tIns="0" rIns="0" bIns="0" rtlCol="0" anchor="ctr"/>
          <a:lstStyle/>
          <a:p>
            <a:pPr marL="0" indent="0">
              <a:buNone/>
            </a:pPr>
            <a:r>
              <a:rPr lang="en-US" sz="1000" b="1">
                <a:solidFill>
                  <a:srgbClr val="0F1923"/>
                </a:solidFill>
                <a:latin typeface="Calibri" pitchFamily="34" charset="0"/>
                <a:ea typeface="Calibri" pitchFamily="34" charset="-122"/>
                <a:cs typeface="Calibri" pitchFamily="34" charset="-120"/>
              </a:rPr>
              <a:t>Adapt or Switch</a:t>
            </a:r>
            <a:endParaRPr lang="en-US" sz="1000"/>
          </a:p>
        </p:txBody>
      </p:sp>
      <p:sp>
        <p:nvSpPr>
          <p:cNvPr id="39" name="Text 37"/>
          <p:cNvSpPr txBox="1"/>
          <p:nvPr/>
        </p:nvSpPr>
        <p:spPr>
          <a:xfrm>
            <a:off x="3310128" y="3867912"/>
            <a:ext cx="2386584" cy="64008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Adapts the recipe when reasonable; evaluates another option if a core ingredient is missing.</a:t>
            </a:r>
            <a:endParaRPr lang="en-US" sz="850"/>
          </a:p>
        </p:txBody>
      </p:sp>
      <p:sp>
        <p:nvSpPr>
          <p:cNvPr id="40" name="Shape 38"/>
          <p:cNvSpPr/>
          <p:nvPr/>
        </p:nvSpPr>
        <p:spPr>
          <a:xfrm>
            <a:off x="5824728" y="3502152"/>
            <a:ext cx="192024" cy="36576"/>
          </a:xfrm>
          <a:prstGeom prst="rect">
            <a:avLst/>
          </a:prstGeom>
          <a:solidFill>
            <a:srgbClr val="52B788"/>
          </a:solidFill>
          <a:ln w="12700">
            <a:solidFill>
              <a:srgbClr val="52B788"/>
            </a:solidFill>
            <a:prstDash val="solid"/>
          </a:ln>
        </p:spPr>
        <p:txBody>
          <a:bodyPr/>
          <a:lstStyle/>
          <a:p>
            <a:endParaRPr lang="en-US"/>
          </a:p>
        </p:txBody>
      </p:sp>
      <p:sp>
        <p:nvSpPr>
          <p:cNvPr id="41" name="Shape 39"/>
          <p:cNvSpPr/>
          <p:nvPr/>
        </p:nvSpPr>
        <p:spPr>
          <a:xfrm>
            <a:off x="6035040" y="2999232"/>
            <a:ext cx="2606040" cy="1554480"/>
          </a:xfrm>
          <a:prstGeom prst="roundRect">
            <a:avLst>
              <a:gd name="adj" fmla="val 4706"/>
            </a:avLst>
          </a:prstGeom>
          <a:solidFill>
            <a:srgbClr val="F2F4F7"/>
          </a:solidFill>
          <a:ln w="12700">
            <a:solidFill>
              <a:srgbClr val="E2E6EA"/>
            </a:solidFill>
            <a:prstDash val="solid"/>
          </a:ln>
        </p:spPr>
        <p:txBody>
          <a:bodyPr/>
          <a:lstStyle/>
          <a:p>
            <a:endParaRPr lang="en-US"/>
          </a:p>
        </p:txBody>
      </p:sp>
      <p:sp>
        <p:nvSpPr>
          <p:cNvPr id="42" name="Shape 40"/>
          <p:cNvSpPr/>
          <p:nvPr/>
        </p:nvSpPr>
        <p:spPr>
          <a:xfrm>
            <a:off x="6199632" y="3136392"/>
            <a:ext cx="347472" cy="347472"/>
          </a:xfrm>
          <a:prstGeom prst="ellipse">
            <a:avLst/>
          </a:prstGeom>
          <a:solidFill>
            <a:srgbClr val="E76F51"/>
          </a:solidFill>
          <a:ln w="12700">
            <a:solidFill>
              <a:srgbClr val="E76F51"/>
            </a:solidFill>
            <a:prstDash val="solid"/>
          </a:ln>
        </p:spPr>
        <p:txBody>
          <a:bodyPr/>
          <a:lstStyle/>
          <a:p>
            <a:endParaRPr lang="en-US"/>
          </a:p>
        </p:txBody>
      </p:sp>
      <p:sp>
        <p:nvSpPr>
          <p:cNvPr id="43" name="Text 41"/>
          <p:cNvSpPr txBox="1"/>
          <p:nvPr/>
        </p:nvSpPr>
        <p:spPr>
          <a:xfrm>
            <a:off x="6199632" y="3136392"/>
            <a:ext cx="347472" cy="34747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7</a:t>
            </a:r>
            <a:endParaRPr lang="en-US" sz="1000"/>
          </a:p>
        </p:txBody>
      </p:sp>
      <p:sp>
        <p:nvSpPr>
          <p:cNvPr id="44" name="Text 42"/>
          <p:cNvSpPr txBox="1"/>
          <p:nvPr/>
        </p:nvSpPr>
        <p:spPr>
          <a:xfrm>
            <a:off x="6144768" y="3547872"/>
            <a:ext cx="2386584" cy="274320"/>
          </a:xfrm>
          <a:prstGeom prst="rect">
            <a:avLst/>
          </a:prstGeom>
          <a:noFill/>
          <a:ln/>
        </p:spPr>
        <p:txBody>
          <a:bodyPr wrap="square" lIns="0" tIns="0" rIns="0" bIns="0" rtlCol="0" anchor="ctr"/>
          <a:lstStyle/>
          <a:p>
            <a:pPr marL="0" indent="0">
              <a:buNone/>
            </a:pPr>
            <a:r>
              <a:rPr lang="en-US" sz="1000" b="1">
                <a:solidFill>
                  <a:srgbClr val="0F1923"/>
                </a:solidFill>
                <a:latin typeface="Calibri" pitchFamily="34" charset="0"/>
                <a:ea typeface="Calibri" pitchFamily="34" charset="-122"/>
                <a:cs typeface="Calibri" pitchFamily="34" charset="-120"/>
              </a:rPr>
              <a:t>Final Output</a:t>
            </a:r>
            <a:endParaRPr lang="en-US" sz="1000"/>
          </a:p>
        </p:txBody>
      </p:sp>
      <p:sp>
        <p:nvSpPr>
          <p:cNvPr id="45" name="Text 43"/>
          <p:cNvSpPr txBox="1"/>
          <p:nvPr/>
        </p:nvSpPr>
        <p:spPr>
          <a:xfrm>
            <a:off x="6144768" y="3867912"/>
            <a:ext cx="2386584" cy="640080"/>
          </a:xfrm>
          <a:prstGeom prst="rect">
            <a:avLst/>
          </a:prstGeom>
          <a:noFill/>
          <a:ln/>
        </p:spPr>
        <p:txBody>
          <a:bodyPr wrap="square" lIns="0" tIns="0" rIns="0" bIns="0" rtlCol="0" anchor="ctr"/>
          <a:lstStyle/>
          <a:p>
            <a:pPr marL="0" indent="0">
              <a:buNone/>
            </a:pPr>
            <a:r>
              <a:rPr lang="en-US" sz="850">
                <a:solidFill>
                  <a:srgbClr val="5A6675"/>
                </a:solidFill>
                <a:latin typeface="Calibri" pitchFamily="34" charset="0"/>
                <a:ea typeface="Calibri" pitchFamily="34" charset="-122"/>
                <a:cs typeface="Calibri" pitchFamily="34" charset="-120"/>
              </a:rPr>
              <a:t>Complete recipe + quantities + missing items list + relevant YouTube cooking video.</a:t>
            </a:r>
            <a:endParaRPr lang="en-US" sz="850"/>
          </a:p>
        </p:txBody>
      </p:sp>
      <p:sp>
        <p:nvSpPr>
          <p:cNvPr id="46" name="Text 44"/>
          <p:cNvSpPr txBox="1"/>
          <p:nvPr/>
        </p:nvSpPr>
        <p:spPr>
          <a:xfrm>
            <a:off x="365760" y="4892040"/>
            <a:ext cx="6400800" cy="182880"/>
          </a:xfrm>
          <a:prstGeom prst="rect">
            <a:avLst/>
          </a:prstGeom>
          <a:noFill/>
          <a:ln/>
        </p:spPr>
        <p:txBody>
          <a:bodyPr wrap="square" lIns="0" tIns="0" rIns="0" bIns="0" rtlCol="0" anchor="ctr"/>
          <a:lstStyle/>
          <a:p>
            <a:pPr marL="0" indent="0">
              <a:buNone/>
            </a:pPr>
            <a:r>
              <a:rPr lang="en-US" sz="800">
                <a:solidFill>
                  <a:srgbClr val="5A6675"/>
                </a:solidFill>
                <a:latin typeface="Calibri" pitchFamily="34" charset="0"/>
                <a:ea typeface="Calibri" pitchFamily="34" charset="-122"/>
                <a:cs typeface="Calibri" pitchFamily="34" charset="-120"/>
              </a:rPr>
              <a:t>AI Chef  ·  Checkpoint 1</a:t>
            </a:r>
            <a:endParaRPr lang="en-US" sz="800"/>
          </a:p>
        </p:txBody>
      </p:sp>
      <p:sp>
        <p:nvSpPr>
          <p:cNvPr id="47" name="Text 45"/>
          <p:cNvSpPr txBox="1"/>
          <p:nvPr/>
        </p:nvSpPr>
        <p:spPr>
          <a:xfrm>
            <a:off x="8503920" y="4892040"/>
            <a:ext cx="365760" cy="182880"/>
          </a:xfrm>
          <a:prstGeom prst="rect">
            <a:avLst/>
          </a:prstGeom>
          <a:noFill/>
          <a:ln/>
        </p:spPr>
        <p:txBody>
          <a:bodyPr wrap="square" lIns="0" tIns="0" rIns="0" bIns="0" rtlCol="0" anchor="ctr"/>
          <a:lstStyle/>
          <a:p>
            <a:pPr marL="0" indent="0" algn="r">
              <a:buNone/>
            </a:pPr>
            <a:r>
              <a:rPr lang="en-US" sz="800">
                <a:solidFill>
                  <a:srgbClr val="5A6675"/>
                </a:solidFill>
                <a:latin typeface="Calibri" pitchFamily="34" charset="0"/>
                <a:ea typeface="Calibri" pitchFamily="34" charset="-122"/>
                <a:cs typeface="Calibri" pitchFamily="34" charset="-120"/>
              </a:rPr>
              <a:t>6</a:t>
            </a:r>
            <a:endParaRPr lang="en-US" sz="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8</Slides>
  <Notes>8</Notes>
  <HiddenSlides>1</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2</cp:revision>
  <dcterms:created xsi:type="dcterms:W3CDTF">2026-09-16T23:53:06Z</dcterms:created>
  <dcterms:modified xsi:type="dcterms:W3CDTF">2026-09-18T03:12:37Z</dcterms:modified>
</cp:coreProperties>
</file>